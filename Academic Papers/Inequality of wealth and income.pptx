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2"/>
    <p:sldId id="277" r:id="rId3"/>
    <p:sldId id="261" r:id="rId4"/>
    <p:sldId id="262" r:id="rId5"/>
    <p:sldId id="263" r:id="rId6"/>
    <p:sldId id="266" r:id="rId7"/>
    <p:sldId id="268" r:id="rId8"/>
    <p:sldId id="270" r:id="rId9"/>
    <p:sldId id="280" r:id="rId10"/>
    <p:sldId id="264" r:id="rId11"/>
    <p:sldId id="271" r:id="rId12"/>
    <p:sldId id="274" r:id="rId13"/>
    <p:sldId id="275" r:id="rId14"/>
    <p:sldId id="276" r:id="rId15"/>
    <p:sldId id="272" r:id="rId16"/>
    <p:sldId id="273" r:id="rId17"/>
    <p:sldId id="278" r:id="rId18"/>
    <p:sldId id="27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21" d="100"/>
          <a:sy n="121" d="100"/>
        </p:scale>
        <p:origin x="461"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B11F-A27D-4DA3-AC6E-A1F1A228E4F4}"/>
              </a:ext>
            </a:extLst>
          </p:cNvPr>
          <p:cNvSpPr>
            <a:spLocks noGrp="1"/>
          </p:cNvSpPr>
          <p:nvPr>
            <p:ph type="title"/>
          </p:nvPr>
        </p:nvSpPr>
        <p:spPr>
          <a:xfrm>
            <a:off x="880353" y="2766218"/>
            <a:ext cx="11311647" cy="1325563"/>
          </a:xfrm>
        </p:spPr>
        <p:txBody>
          <a:bodyPr>
            <a:normAutofit fontScale="90000"/>
          </a:bodyPr>
          <a:lstStyle/>
          <a:p>
            <a:r>
              <a:rPr lang="en-US" altLang="zh-CN" sz="6000" dirty="0"/>
              <a:t>Why Rising Inequality Has Not Led to Increased Redistribution</a:t>
            </a:r>
            <a:r>
              <a:rPr lang="en-US" altLang="zh-CN" sz="5600" dirty="0"/>
              <a:t>?</a:t>
            </a:r>
            <a:br>
              <a:rPr lang="en-US" altLang="zh-CN" sz="5600" dirty="0"/>
            </a:br>
            <a:br>
              <a:rPr lang="en-US" altLang="zh-CN" sz="5600" dirty="0"/>
            </a:br>
            <a:r>
              <a:rPr lang="en-US" altLang="zh-CN" sz="2800" dirty="0"/>
              <a:t>Candidate Number: 62622</a:t>
            </a:r>
            <a:br>
              <a:rPr lang="en-US" altLang="zh-CN" sz="5600" dirty="0"/>
            </a:br>
            <a:endParaRPr lang="zh-CN" altLang="en-US" dirty="0"/>
          </a:p>
        </p:txBody>
      </p:sp>
    </p:spTree>
    <p:extLst>
      <p:ext uri="{BB962C8B-B14F-4D97-AF65-F5344CB8AC3E}">
        <p14:creationId xmlns:p14="http://schemas.microsoft.com/office/powerpoint/2010/main" val="448295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73CAE-7C05-2FB8-2C2D-B7E72D2550A0}"/>
              </a:ext>
            </a:extLst>
          </p:cNvPr>
          <p:cNvSpPr>
            <a:spLocks noGrp="1"/>
          </p:cNvSpPr>
          <p:nvPr>
            <p:ph idx="1"/>
          </p:nvPr>
        </p:nvSpPr>
        <p:spPr>
          <a:xfrm>
            <a:off x="838200" y="595914"/>
            <a:ext cx="10515600" cy="5268858"/>
          </a:xfrm>
        </p:spPr>
        <p:txBody>
          <a:bodyPr>
            <a:normAutofit/>
          </a:bodyPr>
          <a:lstStyle/>
          <a:p>
            <a:pPr marL="0" indent="0">
              <a:buNone/>
            </a:pPr>
            <a:r>
              <a:rPr lang="en-US" altLang="zh-CN" sz="2000" dirty="0"/>
              <a:t>Research Question: Income and wealth inequality have increased considerably during the last 40 years. 	   Models of redistributive politics based on the MVT would have predicted an increase in taxes on high incomes and an increase in social spending. 	Why this did </a:t>
            </a:r>
            <a:r>
              <a:rPr lang="en-US" altLang="zh-CN" sz="2000" u="sng" dirty="0"/>
              <a:t>NOT</a:t>
            </a:r>
            <a:r>
              <a:rPr lang="en-US" altLang="zh-CN" sz="2000" dirty="0"/>
              <a:t> happen? </a:t>
            </a:r>
            <a:endParaRPr lang="zh-CN" altLang="en-US" sz="2000" dirty="0"/>
          </a:p>
        </p:txBody>
      </p:sp>
      <p:cxnSp>
        <p:nvCxnSpPr>
          <p:cNvPr id="4" name="Straight Arrow Connector 3">
            <a:extLst>
              <a:ext uri="{FF2B5EF4-FFF2-40B4-BE49-F238E27FC236}">
                <a16:creationId xmlns:a16="http://schemas.microsoft.com/office/drawing/2014/main" id="{F5A07D96-6DDB-C4EF-9109-D3C56A6F3239}"/>
              </a:ext>
            </a:extLst>
          </p:cNvPr>
          <p:cNvCxnSpPr>
            <a:cxnSpLocks/>
          </p:cNvCxnSpPr>
          <p:nvPr/>
        </p:nvCxnSpPr>
        <p:spPr>
          <a:xfrm>
            <a:off x="1627001" y="1059444"/>
            <a:ext cx="27116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0A32E37F-7B2B-0997-FC08-CBD0F5BFE499}"/>
              </a:ext>
            </a:extLst>
          </p:cNvPr>
          <p:cNvCxnSpPr>
            <a:cxnSpLocks/>
          </p:cNvCxnSpPr>
          <p:nvPr/>
        </p:nvCxnSpPr>
        <p:spPr>
          <a:xfrm>
            <a:off x="6982023" y="1337967"/>
            <a:ext cx="27116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0024E28-2339-65D5-7434-14716C3C1A4A}"/>
              </a:ext>
            </a:extLst>
          </p:cNvPr>
          <p:cNvCxnSpPr/>
          <p:nvPr/>
        </p:nvCxnSpPr>
        <p:spPr>
          <a:xfrm>
            <a:off x="5814324" y="1809882"/>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400CC78-291C-5F1F-785A-18474FA24A51}"/>
              </a:ext>
            </a:extLst>
          </p:cNvPr>
          <p:cNvSpPr txBox="1"/>
          <p:nvPr/>
        </p:nvSpPr>
        <p:spPr>
          <a:xfrm>
            <a:off x="2555066" y="2238139"/>
            <a:ext cx="7212724" cy="369332"/>
          </a:xfrm>
          <a:prstGeom prst="rect">
            <a:avLst/>
          </a:prstGeom>
          <a:noFill/>
        </p:spPr>
        <p:txBody>
          <a:bodyPr wrap="square">
            <a:spAutoFit/>
          </a:bodyPr>
          <a:lstStyle/>
          <a:p>
            <a:r>
              <a:rPr lang="en-US" altLang="zh-CN" dirty="0"/>
              <a:t>Part I: Introduction to MVT and current situation of global inequality</a:t>
            </a:r>
            <a:endParaRPr lang="zh-CN" altLang="en-US" dirty="0"/>
          </a:p>
        </p:txBody>
      </p:sp>
      <p:sp>
        <p:nvSpPr>
          <p:cNvPr id="12" name="TextBox 11">
            <a:extLst>
              <a:ext uri="{FF2B5EF4-FFF2-40B4-BE49-F238E27FC236}">
                <a16:creationId xmlns:a16="http://schemas.microsoft.com/office/drawing/2014/main" id="{B3171796-D316-8B19-4408-5903CA35B313}"/>
              </a:ext>
            </a:extLst>
          </p:cNvPr>
          <p:cNvSpPr txBox="1"/>
          <p:nvPr/>
        </p:nvSpPr>
        <p:spPr>
          <a:xfrm>
            <a:off x="2555066" y="3173902"/>
            <a:ext cx="6866408" cy="369332"/>
          </a:xfrm>
          <a:prstGeom prst="rect">
            <a:avLst/>
          </a:prstGeom>
          <a:noFill/>
        </p:spPr>
        <p:txBody>
          <a:bodyPr wrap="square">
            <a:spAutoFit/>
          </a:bodyPr>
          <a:lstStyle/>
          <a:p>
            <a:r>
              <a:rPr lang="en-US" altLang="zh-CN" dirty="0"/>
              <a:t>Part II: How </a:t>
            </a:r>
            <a:r>
              <a:rPr lang="en-US" altLang="zh-CN" dirty="0">
                <a:highlight>
                  <a:srgbClr val="C0C0C0"/>
                </a:highlight>
              </a:rPr>
              <a:t>Political Inequality &amp; Elite Capture </a:t>
            </a:r>
            <a:r>
              <a:rPr lang="en-US" altLang="zh-CN" dirty="0"/>
              <a:t>affect redistribution?</a:t>
            </a:r>
            <a:endParaRPr lang="zh-CN" altLang="en-US" dirty="0"/>
          </a:p>
        </p:txBody>
      </p:sp>
      <p:sp>
        <p:nvSpPr>
          <p:cNvPr id="14" name="TextBox 13">
            <a:extLst>
              <a:ext uri="{FF2B5EF4-FFF2-40B4-BE49-F238E27FC236}">
                <a16:creationId xmlns:a16="http://schemas.microsoft.com/office/drawing/2014/main" id="{373E2D41-622A-1E3B-3448-C7581ED7FFAD}"/>
              </a:ext>
            </a:extLst>
          </p:cNvPr>
          <p:cNvSpPr txBox="1"/>
          <p:nvPr/>
        </p:nvSpPr>
        <p:spPr>
          <a:xfrm>
            <a:off x="1513489" y="4100622"/>
            <a:ext cx="9840311" cy="369332"/>
          </a:xfrm>
          <a:prstGeom prst="rect">
            <a:avLst/>
          </a:prstGeom>
          <a:noFill/>
        </p:spPr>
        <p:txBody>
          <a:bodyPr wrap="square">
            <a:spAutoFit/>
          </a:bodyPr>
          <a:lstStyle/>
          <a:p>
            <a:r>
              <a:rPr lang="en-US" altLang="zh-CN" dirty="0"/>
              <a:t>Part III: Tax. How </a:t>
            </a:r>
            <a:r>
              <a:rPr lang="en-US" altLang="zh-CN" dirty="0">
                <a:highlight>
                  <a:srgbClr val="C0C0C0"/>
                </a:highlight>
              </a:rPr>
              <a:t>Misperception and Globalization </a:t>
            </a:r>
            <a:r>
              <a:rPr lang="en-US" altLang="zh-CN" dirty="0"/>
              <a:t>affect tax policies, and further affect redistribution ?</a:t>
            </a:r>
            <a:endParaRPr lang="zh-CN" altLang="en-US" dirty="0"/>
          </a:p>
        </p:txBody>
      </p:sp>
      <p:cxnSp>
        <p:nvCxnSpPr>
          <p:cNvPr id="15" name="Straight Arrow Connector 14">
            <a:extLst>
              <a:ext uri="{FF2B5EF4-FFF2-40B4-BE49-F238E27FC236}">
                <a16:creationId xmlns:a16="http://schemas.microsoft.com/office/drawing/2014/main" id="{F6B48A8B-63F9-C524-A301-EFF9F6ADDB2D}"/>
              </a:ext>
            </a:extLst>
          </p:cNvPr>
          <p:cNvCxnSpPr/>
          <p:nvPr/>
        </p:nvCxnSpPr>
        <p:spPr>
          <a:xfrm>
            <a:off x="5814324" y="2720519"/>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D94FD13-CA69-E364-16D6-CE115BF8FE41}"/>
              </a:ext>
            </a:extLst>
          </p:cNvPr>
          <p:cNvCxnSpPr/>
          <p:nvPr/>
        </p:nvCxnSpPr>
        <p:spPr>
          <a:xfrm>
            <a:off x="5814324" y="3618186"/>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186F5485-7244-6747-FCD7-38C18D6C3638}"/>
              </a:ext>
            </a:extLst>
          </p:cNvPr>
          <p:cNvCxnSpPr/>
          <p:nvPr/>
        </p:nvCxnSpPr>
        <p:spPr>
          <a:xfrm>
            <a:off x="5815376" y="4647149"/>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CB3304F2-DE83-93D8-EC7B-655AD55CF09D}"/>
              </a:ext>
            </a:extLst>
          </p:cNvPr>
          <p:cNvSpPr txBox="1"/>
          <p:nvPr/>
        </p:nvSpPr>
        <p:spPr>
          <a:xfrm>
            <a:off x="4834103" y="5102515"/>
            <a:ext cx="1960441" cy="369332"/>
          </a:xfrm>
          <a:prstGeom prst="rect">
            <a:avLst/>
          </a:prstGeom>
          <a:noFill/>
        </p:spPr>
        <p:txBody>
          <a:bodyPr wrap="square">
            <a:spAutoFit/>
          </a:bodyPr>
          <a:lstStyle/>
          <a:p>
            <a:r>
              <a:rPr lang="en-US" altLang="zh-CN" dirty="0"/>
              <a:t>Part IV: Summaries</a:t>
            </a:r>
            <a:endParaRPr lang="zh-CN" altLang="en-US" dirty="0"/>
          </a:p>
        </p:txBody>
      </p:sp>
    </p:spTree>
    <p:extLst>
      <p:ext uri="{BB962C8B-B14F-4D97-AF65-F5344CB8AC3E}">
        <p14:creationId xmlns:p14="http://schemas.microsoft.com/office/powerpoint/2010/main" val="1277774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3B1AD2-7742-4C39-1162-1C89506C4189}"/>
              </a:ext>
            </a:extLst>
          </p:cNvPr>
          <p:cNvSpPr>
            <a:spLocks noGrp="1"/>
          </p:cNvSpPr>
          <p:nvPr>
            <p:ph idx="1"/>
          </p:nvPr>
        </p:nvSpPr>
        <p:spPr>
          <a:xfrm>
            <a:off x="693157" y="551770"/>
            <a:ext cx="10515600" cy="5773355"/>
          </a:xfrm>
        </p:spPr>
        <p:txBody>
          <a:bodyPr>
            <a:normAutofit/>
          </a:bodyPr>
          <a:lstStyle/>
          <a:p>
            <a:pPr marL="0" indent="0">
              <a:buNone/>
            </a:pPr>
            <a:r>
              <a:rPr lang="en-US" altLang="zh-CN" u="sng" dirty="0"/>
              <a:t>Income and wealth inequality </a:t>
            </a:r>
            <a:r>
              <a:rPr lang="en-US" altLang="zh-CN" dirty="0"/>
              <a:t>have increased considerably during the last 40 years. </a:t>
            </a:r>
          </a:p>
          <a:p>
            <a:pPr marL="0" indent="0">
              <a:buNone/>
            </a:pPr>
            <a:endParaRPr lang="en-US" altLang="zh-CN" dirty="0"/>
          </a:p>
          <a:p>
            <a:pPr marL="0" indent="0">
              <a:buNone/>
            </a:pPr>
            <a:r>
              <a:rPr lang="en-US" altLang="zh-CN" dirty="0"/>
              <a:t>Canonical Model of </a:t>
            </a:r>
            <a:r>
              <a:rPr lang="en-US" altLang="zh-CN" u="sng" dirty="0"/>
              <a:t>Median Voter Theorem:</a:t>
            </a:r>
            <a:r>
              <a:rPr lang="en-US" altLang="zh-CN" dirty="0"/>
              <a:t> (Meltzer &amp; Richard, 1981)</a:t>
            </a:r>
          </a:p>
          <a:p>
            <a:pPr marL="0" indent="0">
              <a:buNone/>
            </a:pPr>
            <a:endParaRPr lang="en-US" altLang="zh-CN" dirty="0"/>
          </a:p>
          <a:p>
            <a:pPr marL="0" indent="0" algn="ctr">
              <a:buNone/>
            </a:pPr>
            <a:r>
              <a:rPr lang="en-US" altLang="zh-CN" sz="2000" dirty="0"/>
              <a:t>More Inequality</a:t>
            </a:r>
          </a:p>
          <a:p>
            <a:pPr marL="0" indent="0" algn="ctr">
              <a:buNone/>
            </a:pPr>
            <a:endParaRPr lang="en-US" altLang="zh-CN" sz="2000" dirty="0"/>
          </a:p>
          <a:p>
            <a:pPr marL="0" indent="0" algn="ctr">
              <a:buNone/>
            </a:pPr>
            <a:r>
              <a:rPr lang="en-US" altLang="zh-CN" sz="2000" dirty="0"/>
              <a:t>Poorer Median Relative To Mean</a:t>
            </a:r>
          </a:p>
          <a:p>
            <a:pPr marL="0" indent="0" algn="ctr">
              <a:buNone/>
            </a:pPr>
            <a:endParaRPr lang="en-US" altLang="zh-CN" sz="2000" dirty="0"/>
          </a:p>
          <a:p>
            <a:pPr marL="0" indent="0" algn="ctr">
              <a:buNone/>
            </a:pPr>
            <a:r>
              <a:rPr lang="en-US" altLang="zh-CN" sz="2000" dirty="0"/>
              <a:t>Median Prefers More Redistribution</a:t>
            </a:r>
          </a:p>
          <a:p>
            <a:pPr marL="0" indent="0" algn="ctr">
              <a:buNone/>
            </a:pPr>
            <a:endParaRPr lang="en-US" altLang="zh-CN" sz="2000" dirty="0"/>
          </a:p>
          <a:p>
            <a:pPr marL="0" indent="0" algn="ctr">
              <a:buNone/>
            </a:pPr>
            <a:r>
              <a:rPr lang="en-US" altLang="zh-CN" sz="2000" dirty="0"/>
              <a:t>(To Win Elections) Parties Propose Higher Taxes &amp; Social Spending Policies</a:t>
            </a:r>
            <a:endParaRPr lang="zh-CN" altLang="en-US" sz="2000" dirty="0"/>
          </a:p>
        </p:txBody>
      </p:sp>
      <p:cxnSp>
        <p:nvCxnSpPr>
          <p:cNvPr id="5" name="Straight Arrow Connector 4">
            <a:extLst>
              <a:ext uri="{FF2B5EF4-FFF2-40B4-BE49-F238E27FC236}">
                <a16:creationId xmlns:a16="http://schemas.microsoft.com/office/drawing/2014/main" id="{910DB603-00F7-D918-F334-DAC19036EFEB}"/>
              </a:ext>
            </a:extLst>
          </p:cNvPr>
          <p:cNvCxnSpPr/>
          <p:nvPr/>
        </p:nvCxnSpPr>
        <p:spPr>
          <a:xfrm>
            <a:off x="5934141" y="3380127"/>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EE36C772-F3F2-E286-B96B-5D8F1C51ECBB}"/>
              </a:ext>
            </a:extLst>
          </p:cNvPr>
          <p:cNvCxnSpPr/>
          <p:nvPr/>
        </p:nvCxnSpPr>
        <p:spPr>
          <a:xfrm>
            <a:off x="5948856" y="4190475"/>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9B8E0AE6-12EE-E623-4950-85EE0F3FC0A4}"/>
              </a:ext>
            </a:extLst>
          </p:cNvPr>
          <p:cNvCxnSpPr/>
          <p:nvPr/>
        </p:nvCxnSpPr>
        <p:spPr>
          <a:xfrm>
            <a:off x="5948856" y="5009230"/>
            <a:ext cx="0" cy="334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6594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716625-718B-DCA4-E36C-2816A92F93FB}"/>
              </a:ext>
            </a:extLst>
          </p:cNvPr>
          <p:cNvSpPr txBox="1"/>
          <p:nvPr/>
        </p:nvSpPr>
        <p:spPr>
          <a:xfrm>
            <a:off x="2126242" y="5043417"/>
            <a:ext cx="7770085" cy="892552"/>
          </a:xfrm>
          <a:prstGeom prst="rect">
            <a:avLst/>
          </a:prstGeom>
          <a:noFill/>
        </p:spPr>
        <p:txBody>
          <a:bodyPr wrap="square">
            <a:spAutoFit/>
          </a:bodyPr>
          <a:lstStyle/>
          <a:p>
            <a:pPr algn="ctr"/>
            <a:r>
              <a:rPr lang="en-US" altLang="zh-CN" sz="1500" dirty="0"/>
              <a:t>Figure 1: Income inequality (Measure In Gini Coefficient) of 10 sample countries from different geographical regions, culture background, and political regimes, 1963-2023</a:t>
            </a:r>
          </a:p>
          <a:p>
            <a:pPr algn="ctr"/>
            <a:endParaRPr lang="en-US" altLang="zh-CN" sz="1100" i="1" dirty="0"/>
          </a:p>
          <a:p>
            <a:r>
              <a:rPr lang="en-US" altLang="zh-CN" sz="1100" i="1" dirty="0"/>
              <a:t>Data Source: World Bank Poverty and Inequality Platform (2025)</a:t>
            </a:r>
            <a:endParaRPr lang="zh-CN" altLang="en-US" sz="1100" i="1" dirty="0"/>
          </a:p>
        </p:txBody>
      </p:sp>
      <p:pic>
        <p:nvPicPr>
          <p:cNvPr id="3" name="Picture 2" descr="A screenshot of a graph&#10;&#10;AI-generated content may be incorrect.">
            <a:extLst>
              <a:ext uri="{FF2B5EF4-FFF2-40B4-BE49-F238E27FC236}">
                <a16:creationId xmlns:a16="http://schemas.microsoft.com/office/drawing/2014/main" id="{A187A585-F296-D57D-29D7-37488D978C49}"/>
              </a:ext>
            </a:extLst>
          </p:cNvPr>
          <p:cNvPicPr>
            <a:picLocks noChangeAspect="1"/>
          </p:cNvPicPr>
          <p:nvPr/>
        </p:nvPicPr>
        <p:blipFill>
          <a:blip r:embed="rId2" cstate="print">
            <a:extLst>
              <a:ext uri="{28A0092B-C50C-407E-A947-70E740481C1C}">
                <a14:useLocalDpi xmlns:a14="http://schemas.microsoft.com/office/drawing/2010/main" val="0"/>
              </a:ext>
            </a:extLst>
          </a:blip>
          <a:srcRect t="13996" b="28269"/>
          <a:stretch>
            <a:fillRect/>
          </a:stretch>
        </p:blipFill>
        <p:spPr>
          <a:xfrm>
            <a:off x="2126242" y="613025"/>
            <a:ext cx="7939515" cy="4252217"/>
          </a:xfrm>
          <a:prstGeom prst="rect">
            <a:avLst/>
          </a:prstGeom>
        </p:spPr>
      </p:pic>
    </p:spTree>
    <p:extLst>
      <p:ext uri="{BB962C8B-B14F-4D97-AF65-F5344CB8AC3E}">
        <p14:creationId xmlns:p14="http://schemas.microsoft.com/office/powerpoint/2010/main" val="281060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BF22-58A4-CE12-5BEA-047B66463D75}"/>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EC6CA271-9036-B667-21F2-AA38F0F743CA}"/>
              </a:ext>
            </a:extLst>
          </p:cNvPr>
          <p:cNvSpPr>
            <a:spLocks noGrp="1"/>
          </p:cNvSpPr>
          <p:nvPr>
            <p:ph idx="1"/>
          </p:nvPr>
        </p:nvSpPr>
        <p:spPr/>
        <p:txBody>
          <a:bodyPr/>
          <a:lstStyle/>
          <a:p>
            <a:r>
              <a:rPr lang="en-US" altLang="zh-CN" dirty="0"/>
              <a:t>1)</a:t>
            </a:r>
            <a:r>
              <a:rPr lang="zh-CN" altLang="en-US" dirty="0"/>
              <a:t> </a:t>
            </a:r>
            <a:r>
              <a:rPr lang="en-US" altLang="zh-CN" sz="2600" dirty="0"/>
              <a:t>Political Inequality &amp; Elite Capture</a:t>
            </a:r>
          </a:p>
          <a:p>
            <a:pPr lvl="1"/>
            <a:r>
              <a:rPr lang="en-US" altLang="zh-CN" sz="2000" dirty="0"/>
              <a:t>Some of MVT’s Core Assumptions: A) similar probability of turning out, B) perfect information, C) pairwise voting             </a:t>
            </a:r>
            <a:r>
              <a:rPr lang="en-US" altLang="zh-CN" sz="2000" dirty="0">
                <a:highlight>
                  <a:srgbClr val="C0C0C0"/>
                </a:highlight>
              </a:rPr>
              <a:t>similar influence on policy</a:t>
            </a:r>
            <a:endParaRPr lang="en-US" altLang="zh-CN" sz="2000" dirty="0"/>
          </a:p>
          <a:p>
            <a:pPr marL="1371600" lvl="2" indent="-457200">
              <a:buFont typeface="+mj-lt"/>
              <a:buAutoNum type="arabicPeriod"/>
            </a:pPr>
            <a:endParaRPr lang="en-US" altLang="zh-CN" dirty="0"/>
          </a:p>
          <a:p>
            <a:pPr marL="1371600" lvl="2" indent="-457200">
              <a:buFont typeface="+mj-lt"/>
              <a:buAutoNum type="arabicPeriod"/>
            </a:pPr>
            <a:r>
              <a:rPr lang="en-US" altLang="zh-CN" sz="1500" dirty="0"/>
              <a:t>Case study of Indonesia’s democratization led by Martinez-Bravo, Mukherjee &amp; Stegmann (2017): after the fall of Suharto (military dictator politician), local elites entrenched under authoritarian rule were </a:t>
            </a:r>
            <a:r>
              <a:rPr lang="en-US" altLang="zh-CN" sz="1500" u="sng" dirty="0"/>
              <a:t>able to retain their position and continue to exert influence even after competitive elections were introduced</a:t>
            </a:r>
            <a:r>
              <a:rPr lang="en-US" altLang="zh-CN" sz="1500" dirty="0"/>
              <a:t>.</a:t>
            </a:r>
          </a:p>
          <a:p>
            <a:pPr marL="1371600" lvl="2" indent="-457200">
              <a:buFont typeface="+mj-lt"/>
              <a:buAutoNum type="arabicPeriod"/>
            </a:pPr>
            <a:endParaRPr lang="en-US" altLang="zh-CN" sz="1500" dirty="0"/>
          </a:p>
          <a:p>
            <a:pPr marL="1371600" lvl="2" indent="-457200">
              <a:buFont typeface="+mj-lt"/>
              <a:buAutoNum type="arabicPeriod"/>
            </a:pPr>
            <a:endParaRPr lang="en-US" altLang="zh-CN" sz="1500" dirty="0"/>
          </a:p>
        </p:txBody>
      </p:sp>
      <p:cxnSp>
        <p:nvCxnSpPr>
          <p:cNvPr id="13" name="Straight Arrow Connector 12">
            <a:extLst>
              <a:ext uri="{FF2B5EF4-FFF2-40B4-BE49-F238E27FC236}">
                <a16:creationId xmlns:a16="http://schemas.microsoft.com/office/drawing/2014/main" id="{2285871E-A10F-17EA-B32E-314D03E79879}"/>
              </a:ext>
            </a:extLst>
          </p:cNvPr>
          <p:cNvCxnSpPr>
            <a:cxnSpLocks/>
          </p:cNvCxnSpPr>
          <p:nvPr/>
        </p:nvCxnSpPr>
        <p:spPr>
          <a:xfrm>
            <a:off x="3695437" y="2740453"/>
            <a:ext cx="2722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142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C6A0-23F5-D7E4-3254-86C28FC55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43126-220E-5735-FAF6-8C29D3550D70}"/>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E80F03DF-FA46-FEB9-60BF-0D84C88AD7F6}"/>
              </a:ext>
            </a:extLst>
          </p:cNvPr>
          <p:cNvSpPr>
            <a:spLocks noGrp="1"/>
          </p:cNvSpPr>
          <p:nvPr>
            <p:ph idx="1"/>
          </p:nvPr>
        </p:nvSpPr>
        <p:spPr/>
        <p:txBody>
          <a:bodyPr/>
          <a:lstStyle/>
          <a:p>
            <a:r>
              <a:rPr lang="en-US" altLang="zh-CN" dirty="0"/>
              <a:t>1)</a:t>
            </a:r>
            <a:r>
              <a:rPr lang="zh-CN" altLang="en-US" dirty="0"/>
              <a:t> </a:t>
            </a:r>
            <a:r>
              <a:rPr lang="en-US" altLang="zh-CN" sz="2600" dirty="0"/>
              <a:t>Political Inequality &amp; Elite Capture</a:t>
            </a:r>
          </a:p>
          <a:p>
            <a:pPr lvl="1"/>
            <a:r>
              <a:rPr lang="en-US" altLang="zh-CN" sz="2000" dirty="0"/>
              <a:t>Some of MVT’s Core Assumptions: A) similar probability of turning out, B) perfect information, C) pairwise voting             </a:t>
            </a:r>
            <a:r>
              <a:rPr lang="en-US" altLang="zh-CN" sz="2000" dirty="0">
                <a:highlight>
                  <a:srgbClr val="C0C0C0"/>
                </a:highlight>
              </a:rPr>
              <a:t>similar influence on policy</a:t>
            </a:r>
            <a:endParaRPr lang="en-US" altLang="zh-CN" sz="2000" dirty="0"/>
          </a:p>
          <a:p>
            <a:pPr marL="1371600" lvl="2" indent="-457200">
              <a:buFont typeface="+mj-lt"/>
              <a:buAutoNum type="arabicPeriod"/>
            </a:pPr>
            <a:endParaRPr lang="en-US" altLang="zh-CN" dirty="0"/>
          </a:p>
          <a:p>
            <a:pPr marL="1371600" lvl="2" indent="-457200">
              <a:buFont typeface="+mj-lt"/>
              <a:buAutoNum type="arabicPeriod"/>
            </a:pPr>
            <a:r>
              <a:rPr lang="en-US" altLang="zh-CN" sz="1500" dirty="0"/>
              <a:t>Case study of Indonesia’s democratization led by Martinez-Bravo, Mukherjee &amp; Stegmann (2017): after the fall of Suharto (military dictator politician), local elites entrenched under authoritarian rule were </a:t>
            </a:r>
            <a:r>
              <a:rPr lang="en-US" altLang="zh-CN" sz="1500" u="sng" dirty="0"/>
              <a:t>able to retain their position and continue to exert influence even after competitive elections were introduced</a:t>
            </a:r>
            <a:r>
              <a:rPr lang="en-US" altLang="zh-CN" sz="1500" dirty="0"/>
              <a:t>.</a:t>
            </a:r>
          </a:p>
          <a:p>
            <a:pPr marL="1371600" lvl="2" indent="-457200">
              <a:buFont typeface="+mj-lt"/>
              <a:buAutoNum type="arabicPeriod"/>
            </a:pPr>
            <a:endParaRPr lang="en-US" altLang="zh-CN" sz="1500" dirty="0"/>
          </a:p>
          <a:p>
            <a:pPr marL="1371600" lvl="2" indent="-457200">
              <a:buFont typeface="+mj-lt"/>
              <a:buAutoNum type="arabicPeriod"/>
            </a:pPr>
            <a:endParaRPr lang="en-US" altLang="zh-CN" sz="1500" dirty="0"/>
          </a:p>
        </p:txBody>
      </p:sp>
      <p:cxnSp>
        <p:nvCxnSpPr>
          <p:cNvPr id="4" name="Straight Arrow Connector 3">
            <a:extLst>
              <a:ext uri="{FF2B5EF4-FFF2-40B4-BE49-F238E27FC236}">
                <a16:creationId xmlns:a16="http://schemas.microsoft.com/office/drawing/2014/main" id="{ACA0785F-B3A4-06CB-1C4A-C77A3777232E}"/>
              </a:ext>
            </a:extLst>
          </p:cNvPr>
          <p:cNvCxnSpPr>
            <a:cxnSpLocks/>
          </p:cNvCxnSpPr>
          <p:nvPr/>
        </p:nvCxnSpPr>
        <p:spPr>
          <a:xfrm>
            <a:off x="6369270" y="3988029"/>
            <a:ext cx="0" cy="283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B6AC26EE-24ED-7D9C-5F53-C7AAF4D69643}"/>
              </a:ext>
            </a:extLst>
          </p:cNvPr>
          <p:cNvSpPr txBox="1"/>
          <p:nvPr/>
        </p:nvSpPr>
        <p:spPr>
          <a:xfrm>
            <a:off x="2200868" y="4322259"/>
            <a:ext cx="8708869" cy="323165"/>
          </a:xfrm>
          <a:prstGeom prst="rect">
            <a:avLst/>
          </a:prstGeom>
          <a:noFill/>
        </p:spPr>
        <p:txBody>
          <a:bodyPr wrap="square">
            <a:spAutoFit/>
          </a:bodyPr>
          <a:lstStyle/>
          <a:p>
            <a:r>
              <a:rPr lang="en-US" altLang="zh-CN" sz="1500" dirty="0"/>
              <a:t>By investing in de facto power, which includes alliances with the military, bribery, vote buying, etc.</a:t>
            </a:r>
            <a:endParaRPr lang="zh-CN" altLang="en-US" sz="1500" dirty="0"/>
          </a:p>
        </p:txBody>
      </p:sp>
      <p:sp>
        <p:nvSpPr>
          <p:cNvPr id="11" name="TextBox 10">
            <a:extLst>
              <a:ext uri="{FF2B5EF4-FFF2-40B4-BE49-F238E27FC236}">
                <a16:creationId xmlns:a16="http://schemas.microsoft.com/office/drawing/2014/main" id="{E90C77B3-DF63-3EB9-FDCC-CAC85FD69CB2}"/>
              </a:ext>
            </a:extLst>
          </p:cNvPr>
          <p:cNvSpPr txBox="1"/>
          <p:nvPr/>
        </p:nvSpPr>
        <p:spPr>
          <a:xfrm>
            <a:off x="2200868" y="5134194"/>
            <a:ext cx="8391983" cy="553998"/>
          </a:xfrm>
          <a:prstGeom prst="rect">
            <a:avLst/>
          </a:prstGeom>
          <a:noFill/>
        </p:spPr>
        <p:txBody>
          <a:bodyPr wrap="square">
            <a:spAutoFit/>
          </a:bodyPr>
          <a:lstStyle/>
          <a:p>
            <a:r>
              <a:rPr lang="en-US" altLang="zh-CN" sz="1500" dirty="0"/>
              <a:t>In such environments, even if inequality rises, the preferences of the poorer median voter are unlikely to translate into higher taxes or social spending, even with an increase in citizens’ power in elections.</a:t>
            </a:r>
            <a:endParaRPr lang="zh-CN" altLang="en-US" sz="1500" dirty="0"/>
          </a:p>
        </p:txBody>
      </p:sp>
      <p:cxnSp>
        <p:nvCxnSpPr>
          <p:cNvPr id="12" name="Straight Arrow Connector 11">
            <a:extLst>
              <a:ext uri="{FF2B5EF4-FFF2-40B4-BE49-F238E27FC236}">
                <a16:creationId xmlns:a16="http://schemas.microsoft.com/office/drawing/2014/main" id="{509B9B72-E0FC-36A9-159A-FBEC9A2FF309}"/>
              </a:ext>
            </a:extLst>
          </p:cNvPr>
          <p:cNvCxnSpPr>
            <a:cxnSpLocks/>
          </p:cNvCxnSpPr>
          <p:nvPr/>
        </p:nvCxnSpPr>
        <p:spPr>
          <a:xfrm>
            <a:off x="6396859" y="4752131"/>
            <a:ext cx="0" cy="283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FDE745D0-4B85-8CFE-CA62-7DD0137FBED6}"/>
              </a:ext>
            </a:extLst>
          </p:cNvPr>
          <p:cNvCxnSpPr>
            <a:cxnSpLocks/>
          </p:cNvCxnSpPr>
          <p:nvPr/>
        </p:nvCxnSpPr>
        <p:spPr>
          <a:xfrm>
            <a:off x="3695437" y="2740453"/>
            <a:ext cx="2722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2978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FBB05-05CB-D602-87BD-25FE0CF9A66F}"/>
              </a:ext>
            </a:extLst>
          </p:cNvPr>
          <p:cNvSpPr>
            <a:spLocks noGrp="1"/>
          </p:cNvSpPr>
          <p:nvPr>
            <p:ph idx="1"/>
          </p:nvPr>
        </p:nvSpPr>
        <p:spPr>
          <a:xfrm>
            <a:off x="735723" y="561253"/>
            <a:ext cx="10720553" cy="5492706"/>
          </a:xfrm>
        </p:spPr>
        <p:txBody>
          <a:bodyPr/>
          <a:lstStyle/>
          <a:p>
            <a:pPr marL="0" indent="0">
              <a:buNone/>
            </a:pPr>
            <a:r>
              <a:rPr lang="en-US" altLang="zh-CN" dirty="0"/>
              <a:t>Statistics About the Political Inequality &amp; Elite Capture In Indonesia:</a:t>
            </a:r>
          </a:p>
          <a:p>
            <a:pPr marL="0" indent="0">
              <a:buNone/>
            </a:pPr>
            <a:endParaRPr lang="en-US" altLang="zh-CN" dirty="0"/>
          </a:p>
          <a:p>
            <a:r>
              <a:rPr lang="en-US" altLang="zh-CN" sz="1800" dirty="0"/>
              <a:t>Suharto’s authoritarian regime lasts from 1965–1998, Indonesia democratized from 1999, but </a:t>
            </a:r>
            <a:r>
              <a:rPr lang="en-US" altLang="zh-CN" sz="1800" u="sng" dirty="0"/>
              <a:t>Suharto-appointed mayors were not immediately replaced. </a:t>
            </a:r>
            <a:r>
              <a:rPr lang="en-US" altLang="zh-CN" sz="1800" dirty="0"/>
              <a:t>(allowed to finish 5-year terms from 1998-2003)</a:t>
            </a:r>
          </a:p>
          <a:p>
            <a:endParaRPr lang="en-US" altLang="zh-CN" sz="1800" dirty="0"/>
          </a:p>
          <a:p>
            <a:pPr marL="0" indent="0">
              <a:buNone/>
            </a:pPr>
            <a:r>
              <a:rPr lang="en-US" altLang="zh-CN" sz="1800" dirty="0"/>
              <a:t>    The research team found that:</a:t>
            </a:r>
          </a:p>
          <a:p>
            <a:pPr marL="0" indent="0">
              <a:buNone/>
            </a:pPr>
            <a:r>
              <a:rPr lang="en-US" altLang="zh-CN" sz="1800" dirty="0"/>
              <a:t> </a:t>
            </a:r>
          </a:p>
          <a:p>
            <a:pPr lvl="1"/>
            <a:r>
              <a:rPr lang="en-US" altLang="zh-CN" sz="1500" dirty="0"/>
              <a:t>In the first direct mayoral elections (2005–2008), </a:t>
            </a:r>
            <a:r>
              <a:rPr lang="en-US" altLang="zh-CN" sz="1500" b="1" u="sng" dirty="0"/>
              <a:t>71%</a:t>
            </a:r>
            <a:r>
              <a:rPr lang="en-US" altLang="zh-CN" sz="1500" u="sng" dirty="0"/>
              <a:t> </a:t>
            </a:r>
            <a:r>
              <a:rPr lang="en-US" altLang="zh-CN" sz="1500" dirty="0"/>
              <a:t>of districts elected “elite-connected mayors” (from old-regime elite background)</a:t>
            </a:r>
          </a:p>
          <a:p>
            <a:pPr lvl="1"/>
            <a:r>
              <a:rPr lang="en-US" altLang="zh-CN" sz="1500" dirty="0"/>
              <a:t>Each extra year of exposure to the “Old Suharto Mayors” From 1998-2003 increases the probability of elite persistence in that district by about </a:t>
            </a:r>
            <a:r>
              <a:rPr lang="en-US" altLang="zh-CN" sz="1500" b="1" u="sng" dirty="0"/>
              <a:t>11%.</a:t>
            </a:r>
          </a:p>
          <a:p>
            <a:pPr lvl="1"/>
            <a:r>
              <a:rPr lang="en-US" altLang="zh-CN" sz="1500" dirty="0"/>
              <a:t>Districts with longer exposure to “Suharto mayors” have Fewer candidates, and Lower numbers of independent candidates.</a:t>
            </a:r>
            <a:endParaRPr lang="zh-CN" altLang="en-US" sz="1500" dirty="0"/>
          </a:p>
        </p:txBody>
      </p:sp>
    </p:spTree>
    <p:extLst>
      <p:ext uri="{BB962C8B-B14F-4D97-AF65-F5344CB8AC3E}">
        <p14:creationId xmlns:p14="http://schemas.microsoft.com/office/powerpoint/2010/main" val="3206465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D7A33-9A12-BA12-29BF-B2589237EE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12D98-44E2-B4CE-C39A-E4F6A34382E6}"/>
              </a:ext>
            </a:extLst>
          </p:cNvPr>
          <p:cNvSpPr>
            <a:spLocks noGrp="1"/>
          </p:cNvSpPr>
          <p:nvPr>
            <p:ph idx="1"/>
          </p:nvPr>
        </p:nvSpPr>
        <p:spPr>
          <a:xfrm>
            <a:off x="735723" y="561253"/>
            <a:ext cx="10720553" cy="5492706"/>
          </a:xfrm>
        </p:spPr>
        <p:txBody>
          <a:bodyPr/>
          <a:lstStyle/>
          <a:p>
            <a:pPr marL="0" indent="0">
              <a:buNone/>
            </a:pPr>
            <a:r>
              <a:rPr lang="en-US" altLang="zh-CN" dirty="0"/>
              <a:t>Statistics About the Political Inequality &amp; Elite Capture In Indonesia:</a:t>
            </a:r>
          </a:p>
          <a:p>
            <a:pPr marL="0" indent="0">
              <a:buNone/>
            </a:pPr>
            <a:endParaRPr lang="en-US" altLang="zh-CN" dirty="0"/>
          </a:p>
          <a:p>
            <a:r>
              <a:rPr lang="en-US" altLang="zh-CN" sz="1800" dirty="0"/>
              <a:t>Suharto’s authoritarian regime lasts from 1965–1998, Indonesia democratized from 1999, but </a:t>
            </a:r>
            <a:r>
              <a:rPr lang="en-US" altLang="zh-CN" sz="1800" u="sng" dirty="0"/>
              <a:t>Suharto-appointed mayors were not immediately replaced. </a:t>
            </a:r>
            <a:r>
              <a:rPr lang="en-US" altLang="zh-CN" sz="1800" dirty="0"/>
              <a:t>(allowed to finish 5-year terms from 1998-2003)</a:t>
            </a:r>
          </a:p>
          <a:p>
            <a:endParaRPr lang="en-US" altLang="zh-CN" sz="1800" dirty="0"/>
          </a:p>
          <a:p>
            <a:pPr marL="0" indent="0">
              <a:buNone/>
            </a:pPr>
            <a:r>
              <a:rPr lang="en-US" altLang="zh-CN" sz="1800" dirty="0"/>
              <a:t>    The research team found that:</a:t>
            </a:r>
          </a:p>
          <a:p>
            <a:pPr marL="0" indent="0">
              <a:buNone/>
            </a:pPr>
            <a:r>
              <a:rPr lang="en-US" altLang="zh-CN" sz="1800" dirty="0"/>
              <a:t> </a:t>
            </a:r>
          </a:p>
          <a:p>
            <a:pPr lvl="1"/>
            <a:r>
              <a:rPr lang="en-US" altLang="zh-CN" sz="1500" dirty="0"/>
              <a:t>In the first direct mayoral elections (2005–2008), </a:t>
            </a:r>
            <a:r>
              <a:rPr lang="en-US" altLang="zh-CN" sz="1500" b="1" u="sng" dirty="0"/>
              <a:t>71%</a:t>
            </a:r>
            <a:r>
              <a:rPr lang="en-US" altLang="zh-CN" sz="1500" u="sng" dirty="0"/>
              <a:t> </a:t>
            </a:r>
            <a:r>
              <a:rPr lang="en-US" altLang="zh-CN" sz="1500" dirty="0"/>
              <a:t>of districts elected “elite-connected mayors” (from old-regime elite background)</a:t>
            </a:r>
          </a:p>
          <a:p>
            <a:pPr lvl="1"/>
            <a:r>
              <a:rPr lang="en-US" altLang="zh-CN" sz="1500" dirty="0"/>
              <a:t>Each extra year of exposure to the “Old Suharto Mayors” From 1998-2003 increases the probability of elite persistence in that district by about </a:t>
            </a:r>
            <a:r>
              <a:rPr lang="en-US" altLang="zh-CN" sz="1500" b="1" u="sng" dirty="0"/>
              <a:t>11%.</a:t>
            </a:r>
          </a:p>
          <a:p>
            <a:pPr lvl="1"/>
            <a:r>
              <a:rPr lang="en-US" altLang="zh-CN" sz="1500" dirty="0"/>
              <a:t>Districts with longer exposure to “Suharto mayors” have Fewer candidates, and Lower numbers of independent candidates.</a:t>
            </a:r>
            <a:endParaRPr lang="zh-CN" altLang="en-US" sz="1500" dirty="0"/>
          </a:p>
        </p:txBody>
      </p:sp>
      <p:sp>
        <p:nvSpPr>
          <p:cNvPr id="2" name="TextBox 1">
            <a:extLst>
              <a:ext uri="{FF2B5EF4-FFF2-40B4-BE49-F238E27FC236}">
                <a16:creationId xmlns:a16="http://schemas.microsoft.com/office/drawing/2014/main" id="{8A1CFAE3-21C3-CC75-2760-BFBB562BAFB9}"/>
              </a:ext>
            </a:extLst>
          </p:cNvPr>
          <p:cNvSpPr txBox="1"/>
          <p:nvPr/>
        </p:nvSpPr>
        <p:spPr>
          <a:xfrm>
            <a:off x="783939" y="4890574"/>
            <a:ext cx="10624120" cy="1600438"/>
          </a:xfrm>
          <a:prstGeom prst="rect">
            <a:avLst/>
          </a:prstGeom>
          <a:noFill/>
        </p:spPr>
        <p:txBody>
          <a:bodyPr wrap="square">
            <a:spAutoFit/>
          </a:bodyPr>
          <a:lstStyle/>
          <a:p>
            <a:r>
              <a:rPr lang="en-US" altLang="zh-CN" sz="2000" dirty="0"/>
              <a:t>These patterns indicate that the lack of increasing redistribution, in some areas, is due to persistent political inequality and elite capture. </a:t>
            </a:r>
          </a:p>
          <a:p>
            <a:r>
              <a:rPr lang="en-US" altLang="zh-CN" sz="2000" dirty="0"/>
              <a:t>And it is worth noting that: </a:t>
            </a:r>
            <a:r>
              <a:rPr lang="en-US" altLang="zh-CN" sz="2000" u="sng" dirty="0"/>
              <a:t>countries that are democratic today can still carry strong political legacies from their historical authoritarian periods. </a:t>
            </a:r>
            <a:r>
              <a:rPr lang="en-US" altLang="zh-CN" sz="2000" dirty="0"/>
              <a:t>(e.g. South Korea)</a:t>
            </a:r>
            <a:endParaRPr lang="zh-CN" altLang="en-US" sz="2000" dirty="0"/>
          </a:p>
          <a:p>
            <a:endParaRPr lang="zh-CN" altLang="en-US" dirty="0"/>
          </a:p>
        </p:txBody>
      </p:sp>
    </p:spTree>
    <p:extLst>
      <p:ext uri="{BB962C8B-B14F-4D97-AF65-F5344CB8AC3E}">
        <p14:creationId xmlns:p14="http://schemas.microsoft.com/office/powerpoint/2010/main" val="1368518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E7AC-CAB1-38B2-7A18-D4DF5470E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4467D-DA4D-E5AA-B3C9-B58B62E31D9E}"/>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554B349A-70C9-0BC0-89AD-8C3DF7200411}"/>
              </a:ext>
            </a:extLst>
          </p:cNvPr>
          <p:cNvSpPr>
            <a:spLocks noGrp="1"/>
          </p:cNvSpPr>
          <p:nvPr>
            <p:ph idx="1"/>
          </p:nvPr>
        </p:nvSpPr>
        <p:spPr>
          <a:xfrm>
            <a:off x="838200" y="1702751"/>
            <a:ext cx="10515600" cy="4351338"/>
          </a:xfrm>
        </p:spPr>
        <p:txBody>
          <a:bodyPr/>
          <a:lstStyle/>
          <a:p>
            <a:r>
              <a:rPr lang="en-US" altLang="zh-CN" dirty="0"/>
              <a:t>1)</a:t>
            </a:r>
            <a:r>
              <a:rPr lang="zh-CN" altLang="en-US" dirty="0"/>
              <a:t> </a:t>
            </a:r>
            <a:r>
              <a:rPr lang="en-US" altLang="zh-CN" sz="2600" dirty="0"/>
              <a:t>Political Inequality &amp; Elite Capture</a:t>
            </a:r>
          </a:p>
          <a:p>
            <a:pPr lvl="1"/>
            <a:r>
              <a:rPr lang="en-US" altLang="zh-CN" sz="2000" dirty="0"/>
              <a:t>What about developed, democratic countries?</a:t>
            </a:r>
          </a:p>
          <a:p>
            <a:pPr marL="1371600" lvl="2" indent="-457200">
              <a:buFont typeface="+mj-lt"/>
              <a:buAutoNum type="arabicPeriod"/>
            </a:pPr>
            <a:endParaRPr lang="en-US" altLang="zh-CN" dirty="0"/>
          </a:p>
          <a:p>
            <a:pPr marL="914400" lvl="2" indent="0">
              <a:buNone/>
            </a:pPr>
            <a:r>
              <a:rPr lang="en-US" altLang="zh-CN" sz="1600" dirty="0"/>
              <a:t>Research team led by Dal Bó et al. (2017) on Sweden:</a:t>
            </a:r>
          </a:p>
          <a:p>
            <a:pPr marL="914400" lvl="2" indent="0">
              <a:buNone/>
            </a:pPr>
            <a:r>
              <a:rPr lang="en-US" altLang="zh-CN" sz="1600" dirty="0"/>
              <a:t>- </a:t>
            </a:r>
            <a:r>
              <a:rPr lang="en-US" altLang="zh-CN" sz="1400" dirty="0"/>
              <a:t>Politicians are </a:t>
            </a:r>
            <a:r>
              <a:rPr lang="en-US" altLang="zh-CN" sz="1400" u="sng" dirty="0"/>
              <a:t>not drawn from the median citizen</a:t>
            </a:r>
            <a:r>
              <a:rPr lang="en-US" altLang="zh-CN" sz="1400" dirty="0"/>
              <a:t>: richer, better educated, from more affluent families</a:t>
            </a:r>
            <a:endParaRPr lang="en-US" altLang="zh-CN" sz="1400" u="sng" dirty="0"/>
          </a:p>
          <a:p>
            <a:pPr marL="914400" lvl="2" indent="0">
              <a:buNone/>
            </a:pPr>
            <a:endParaRPr lang="en-US" altLang="zh-CN" sz="1500" dirty="0"/>
          </a:p>
          <a:p>
            <a:pPr marL="914400" lvl="2" indent="0">
              <a:buNone/>
            </a:pPr>
            <a:endParaRPr lang="en-US" altLang="zh-CN" sz="1500" dirty="0"/>
          </a:p>
          <a:p>
            <a:pPr marL="914400" lvl="2" indent="0">
              <a:buNone/>
            </a:pPr>
            <a:endParaRPr lang="en-US" altLang="zh-CN" sz="1500" dirty="0"/>
          </a:p>
          <a:p>
            <a:pPr marL="914400" lvl="2" indent="0">
              <a:buNone/>
            </a:pPr>
            <a:endParaRPr lang="en-US" altLang="zh-CN" sz="1500" dirty="0"/>
          </a:p>
          <a:p>
            <a:pPr marL="914400" lvl="2" indent="0">
              <a:buNone/>
            </a:pPr>
            <a:r>
              <a:rPr lang="en-US" altLang="zh-CN" sz="1500" dirty="0"/>
              <a:t>- Higher income &amp; better-educated citizens participate political activities more actively (i.e. elections)</a:t>
            </a:r>
          </a:p>
          <a:p>
            <a:pPr marL="914400" lvl="2" indent="0">
              <a:buNone/>
            </a:pPr>
            <a:endParaRPr lang="en-US" altLang="zh-CN" sz="1500" dirty="0"/>
          </a:p>
        </p:txBody>
      </p:sp>
      <p:sp>
        <p:nvSpPr>
          <p:cNvPr id="6" name="TextBox 5">
            <a:extLst>
              <a:ext uri="{FF2B5EF4-FFF2-40B4-BE49-F238E27FC236}">
                <a16:creationId xmlns:a16="http://schemas.microsoft.com/office/drawing/2014/main" id="{91D87519-9AA6-8795-2507-FF1A160795A1}"/>
              </a:ext>
            </a:extLst>
          </p:cNvPr>
          <p:cNvSpPr txBox="1"/>
          <p:nvPr/>
        </p:nvSpPr>
        <p:spPr>
          <a:xfrm>
            <a:off x="5674537" y="3628671"/>
            <a:ext cx="6094948" cy="307777"/>
          </a:xfrm>
          <a:prstGeom prst="rect">
            <a:avLst/>
          </a:prstGeom>
          <a:noFill/>
        </p:spPr>
        <p:txBody>
          <a:bodyPr wrap="square">
            <a:spAutoFit/>
          </a:bodyPr>
          <a:lstStyle/>
          <a:p>
            <a:r>
              <a:rPr lang="en-US" altLang="zh-CN" sz="1400" dirty="0"/>
              <a:t>They sit closer to the top, and may see the world through elite eyes.</a:t>
            </a:r>
            <a:endParaRPr lang="zh-CN" altLang="en-US" sz="1400" dirty="0"/>
          </a:p>
        </p:txBody>
      </p:sp>
      <p:cxnSp>
        <p:nvCxnSpPr>
          <p:cNvPr id="7" name="Straight Arrow Connector 6">
            <a:extLst>
              <a:ext uri="{FF2B5EF4-FFF2-40B4-BE49-F238E27FC236}">
                <a16:creationId xmlns:a16="http://schemas.microsoft.com/office/drawing/2014/main" id="{DF89EE6D-9946-A01F-CF38-72422A152A3C}"/>
              </a:ext>
            </a:extLst>
          </p:cNvPr>
          <p:cNvCxnSpPr>
            <a:cxnSpLocks/>
          </p:cNvCxnSpPr>
          <p:nvPr/>
        </p:nvCxnSpPr>
        <p:spPr>
          <a:xfrm>
            <a:off x="8035158" y="3429000"/>
            <a:ext cx="0" cy="227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E7910DB-3994-F8F3-6A73-B46EDA4956B5}"/>
              </a:ext>
            </a:extLst>
          </p:cNvPr>
          <p:cNvSpPr txBox="1"/>
          <p:nvPr/>
        </p:nvSpPr>
        <p:spPr>
          <a:xfrm>
            <a:off x="4128201" y="5066188"/>
            <a:ext cx="7433442" cy="307777"/>
          </a:xfrm>
          <a:prstGeom prst="rect">
            <a:avLst/>
          </a:prstGeom>
          <a:noFill/>
        </p:spPr>
        <p:txBody>
          <a:bodyPr wrap="square">
            <a:spAutoFit/>
          </a:bodyPr>
          <a:lstStyle/>
          <a:p>
            <a:pPr marL="914400" lvl="2" indent="0">
              <a:buNone/>
            </a:pPr>
            <a:r>
              <a:rPr lang="en-US" altLang="zh-CN" sz="1400" dirty="0"/>
              <a:t>Policy reflect </a:t>
            </a:r>
            <a:r>
              <a:rPr lang="en-US" altLang="zh-CN" sz="1400" u="sng" dirty="0"/>
              <a:t>a “rich-weighted” median </a:t>
            </a:r>
            <a:r>
              <a:rPr lang="en-US" altLang="zh-CN" sz="1400" dirty="0"/>
              <a:t>rather than the actual median citizen</a:t>
            </a:r>
          </a:p>
        </p:txBody>
      </p:sp>
      <p:cxnSp>
        <p:nvCxnSpPr>
          <p:cNvPr id="21" name="Straight Arrow Connector 20">
            <a:extLst>
              <a:ext uri="{FF2B5EF4-FFF2-40B4-BE49-F238E27FC236}">
                <a16:creationId xmlns:a16="http://schemas.microsoft.com/office/drawing/2014/main" id="{826E96E1-4E2C-00A0-6EE0-BF52F35F2BCA}"/>
              </a:ext>
            </a:extLst>
          </p:cNvPr>
          <p:cNvCxnSpPr>
            <a:cxnSpLocks/>
          </p:cNvCxnSpPr>
          <p:nvPr/>
        </p:nvCxnSpPr>
        <p:spPr>
          <a:xfrm>
            <a:off x="8044618" y="4790716"/>
            <a:ext cx="0" cy="227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4077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803D1-3A66-BBF1-3CB0-30AFB76A0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A686A-CFEE-4C11-CEDA-00D97556F222}"/>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84B55F5D-48B6-C953-0884-90EB19783955}"/>
              </a:ext>
            </a:extLst>
          </p:cNvPr>
          <p:cNvSpPr>
            <a:spLocks noGrp="1"/>
          </p:cNvSpPr>
          <p:nvPr>
            <p:ph idx="1"/>
          </p:nvPr>
        </p:nvSpPr>
        <p:spPr>
          <a:xfrm>
            <a:off x="838200" y="1690687"/>
            <a:ext cx="10515600" cy="4672275"/>
          </a:xfrm>
        </p:spPr>
        <p:txBody>
          <a:bodyPr/>
          <a:lstStyle/>
          <a:p>
            <a:r>
              <a:rPr lang="en-US" altLang="zh-CN" dirty="0"/>
              <a:t>2)</a:t>
            </a:r>
            <a:r>
              <a:rPr lang="zh-CN" altLang="en-US" dirty="0"/>
              <a:t> </a:t>
            </a:r>
            <a:r>
              <a:rPr lang="en-US" altLang="zh-CN" sz="2600" dirty="0"/>
              <a:t>Tax</a:t>
            </a:r>
          </a:p>
          <a:p>
            <a:pPr marL="0" indent="0">
              <a:buNone/>
            </a:pPr>
            <a:r>
              <a:rPr lang="de-DE" altLang="zh-CN" sz="1900" dirty="0"/>
              <a:t>In the </a:t>
            </a:r>
            <a:r>
              <a:rPr lang="en-US" altLang="zh-CN" sz="1900" dirty="0"/>
              <a:t>canonical model of MVT (Meltzer &amp; Richard, 1981), the equilibrium tax rate is decided by</a:t>
            </a:r>
          </a:p>
          <a:p>
            <a:pPr marL="971550" lvl="1" indent="-514350">
              <a:buFont typeface="+mj-lt"/>
              <a:buAutoNum type="arabicPeriod"/>
            </a:pPr>
            <a:endParaRPr lang="en-US" altLang="zh-CN" sz="1600" dirty="0"/>
          </a:p>
          <a:p>
            <a:pPr marL="971550" lvl="1" indent="-514350">
              <a:buFont typeface="+mj-lt"/>
              <a:buAutoNum type="arabicPeriod"/>
            </a:pPr>
            <a:r>
              <a:rPr lang="en-US" altLang="zh-CN" sz="1600" dirty="0">
                <a:highlight>
                  <a:srgbClr val="C0C0C0"/>
                </a:highlight>
              </a:rPr>
              <a:t>Inequality</a:t>
            </a:r>
            <a:r>
              <a:rPr lang="en-US" altLang="zh-CN" sz="1600" dirty="0"/>
              <a:t>: </a:t>
            </a:r>
            <a:r>
              <a:rPr lang="en-US" altLang="zh-CN" sz="1600" dirty="0">
                <a:highlight>
                  <a:srgbClr val="C0C0C0"/>
                </a:highlight>
              </a:rPr>
              <a:t>desire for redistribution </a:t>
            </a:r>
            <a:r>
              <a:rPr lang="en-US" altLang="zh-CN" sz="1600" dirty="0"/>
              <a:t>increases when mean income gets higher than the median (tax the rich!).</a:t>
            </a:r>
          </a:p>
          <a:p>
            <a:pPr marL="971550" lvl="1" indent="-514350">
              <a:buFont typeface="+mj-lt"/>
              <a:buAutoNum type="arabicPeriod"/>
            </a:pPr>
            <a:r>
              <a:rPr lang="en-US" altLang="zh-CN" sz="1600" dirty="0">
                <a:highlight>
                  <a:srgbClr val="C0C0C0"/>
                </a:highlight>
              </a:rPr>
              <a:t>Elasticity</a:t>
            </a:r>
            <a:r>
              <a:rPr lang="en-US" altLang="zh-CN" sz="1600" dirty="0"/>
              <a:t> of the tax base: Increase in </a:t>
            </a:r>
            <a:r>
              <a:rPr lang="en-US" altLang="zh-CN" sz="1600" dirty="0">
                <a:highlight>
                  <a:srgbClr val="C0C0C0"/>
                </a:highlight>
              </a:rPr>
              <a:t>tax rate </a:t>
            </a:r>
            <a:r>
              <a:rPr lang="en-US" altLang="zh-CN" sz="1600" dirty="0"/>
              <a:t>reduces the </a:t>
            </a:r>
            <a:r>
              <a:rPr lang="en-US" altLang="zh-CN" sz="1600" dirty="0">
                <a:highlight>
                  <a:srgbClr val="C0C0C0"/>
                </a:highlight>
              </a:rPr>
              <a:t>tax base </a:t>
            </a:r>
            <a:r>
              <a:rPr lang="en-US" altLang="zh-CN" sz="1600" dirty="0"/>
              <a:t>(</a:t>
            </a:r>
            <a:r>
              <a:rPr lang="en-US" altLang="zh-CN" sz="1600" dirty="0" err="1"/>
              <a:t>labour</a:t>
            </a:r>
            <a:r>
              <a:rPr lang="en-US" altLang="zh-CN" sz="1600" dirty="0"/>
              <a:t> supply), and the extent depends on the elasticity. </a:t>
            </a:r>
          </a:p>
        </p:txBody>
      </p:sp>
      <p:sp>
        <p:nvSpPr>
          <p:cNvPr id="9" name="TextBox 8">
            <a:extLst>
              <a:ext uri="{FF2B5EF4-FFF2-40B4-BE49-F238E27FC236}">
                <a16:creationId xmlns:a16="http://schemas.microsoft.com/office/drawing/2014/main" id="{7CA099F6-FC50-3D11-DDF7-43E99E0A4E1C}"/>
              </a:ext>
            </a:extLst>
          </p:cNvPr>
          <p:cNvSpPr txBox="1"/>
          <p:nvPr/>
        </p:nvSpPr>
        <p:spPr>
          <a:xfrm>
            <a:off x="3391690" y="5160205"/>
            <a:ext cx="2024293" cy="338554"/>
          </a:xfrm>
          <a:prstGeom prst="rect">
            <a:avLst/>
          </a:prstGeom>
          <a:noFill/>
        </p:spPr>
        <p:txBody>
          <a:bodyPr wrap="square">
            <a:spAutoFit/>
          </a:bodyPr>
          <a:lstStyle/>
          <a:p>
            <a:r>
              <a:rPr lang="en-US" altLang="zh-CN" sz="1600" dirty="0"/>
              <a:t>equilibrium tax rate</a:t>
            </a:r>
            <a:endParaRPr lang="zh-CN" altLang="en-US" sz="1600" dirty="0"/>
          </a:p>
        </p:txBody>
      </p:sp>
      <p:cxnSp>
        <p:nvCxnSpPr>
          <p:cNvPr id="10" name="Straight Arrow Connector 9">
            <a:extLst>
              <a:ext uri="{FF2B5EF4-FFF2-40B4-BE49-F238E27FC236}">
                <a16:creationId xmlns:a16="http://schemas.microsoft.com/office/drawing/2014/main" id="{3D9C0FC4-63A0-1D61-1C6F-DD80F304B5F1}"/>
              </a:ext>
            </a:extLst>
          </p:cNvPr>
          <p:cNvCxnSpPr>
            <a:cxnSpLocks/>
          </p:cNvCxnSpPr>
          <p:nvPr/>
        </p:nvCxnSpPr>
        <p:spPr>
          <a:xfrm flipH="1">
            <a:off x="5023354" y="4977323"/>
            <a:ext cx="171912" cy="182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5790CCD2-0C14-4876-8D56-0A4122F64854}"/>
              </a:ext>
            </a:extLst>
          </p:cNvPr>
          <p:cNvPicPr>
            <a:picLocks noChangeAspect="1"/>
          </p:cNvPicPr>
          <p:nvPr/>
        </p:nvPicPr>
        <p:blipFill>
          <a:blip r:embed="rId2"/>
          <a:stretch>
            <a:fillRect/>
          </a:stretch>
        </p:blipFill>
        <p:spPr>
          <a:xfrm>
            <a:off x="5195266" y="4592937"/>
            <a:ext cx="1772043" cy="475826"/>
          </a:xfrm>
          <a:prstGeom prst="rect">
            <a:avLst/>
          </a:prstGeom>
        </p:spPr>
      </p:pic>
      <p:sp>
        <p:nvSpPr>
          <p:cNvPr id="15" name="TextBox 14">
            <a:extLst>
              <a:ext uri="{FF2B5EF4-FFF2-40B4-BE49-F238E27FC236}">
                <a16:creationId xmlns:a16="http://schemas.microsoft.com/office/drawing/2014/main" id="{A66704B1-DB65-5F05-FEC1-B047140C20A8}"/>
              </a:ext>
            </a:extLst>
          </p:cNvPr>
          <p:cNvSpPr txBox="1"/>
          <p:nvPr/>
        </p:nvSpPr>
        <p:spPr>
          <a:xfrm>
            <a:off x="4562542" y="4062190"/>
            <a:ext cx="2024293" cy="338554"/>
          </a:xfrm>
          <a:prstGeom prst="rect">
            <a:avLst/>
          </a:prstGeom>
          <a:noFill/>
        </p:spPr>
        <p:txBody>
          <a:bodyPr wrap="square">
            <a:spAutoFit/>
          </a:bodyPr>
          <a:lstStyle/>
          <a:p>
            <a:r>
              <a:rPr lang="en-US" altLang="zh-CN" sz="1600" dirty="0"/>
              <a:t>mean income</a:t>
            </a:r>
            <a:endParaRPr lang="zh-CN" altLang="en-US" sz="1600" dirty="0"/>
          </a:p>
        </p:txBody>
      </p:sp>
      <p:cxnSp>
        <p:nvCxnSpPr>
          <p:cNvPr id="16" name="Straight Arrow Connector 15">
            <a:extLst>
              <a:ext uri="{FF2B5EF4-FFF2-40B4-BE49-F238E27FC236}">
                <a16:creationId xmlns:a16="http://schemas.microsoft.com/office/drawing/2014/main" id="{0D9EE782-E3D4-D5BA-0297-F866C3302E20}"/>
              </a:ext>
            </a:extLst>
          </p:cNvPr>
          <p:cNvCxnSpPr>
            <a:cxnSpLocks/>
          </p:cNvCxnSpPr>
          <p:nvPr/>
        </p:nvCxnSpPr>
        <p:spPr>
          <a:xfrm flipH="1" flipV="1">
            <a:off x="5574688" y="4400744"/>
            <a:ext cx="15240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BB85659E-0D44-1A4C-4D8B-82A4ADAB5421}"/>
              </a:ext>
            </a:extLst>
          </p:cNvPr>
          <p:cNvSpPr txBox="1"/>
          <p:nvPr/>
        </p:nvSpPr>
        <p:spPr>
          <a:xfrm>
            <a:off x="5868978" y="4042284"/>
            <a:ext cx="2024293" cy="338554"/>
          </a:xfrm>
          <a:prstGeom prst="rect">
            <a:avLst/>
          </a:prstGeom>
          <a:noFill/>
        </p:spPr>
        <p:txBody>
          <a:bodyPr wrap="square">
            <a:spAutoFit/>
          </a:bodyPr>
          <a:lstStyle/>
          <a:p>
            <a:r>
              <a:rPr lang="en-US" altLang="zh-CN" sz="1600" dirty="0"/>
              <a:t>median income</a:t>
            </a:r>
            <a:endParaRPr lang="zh-CN" altLang="en-US" sz="1600" dirty="0"/>
          </a:p>
        </p:txBody>
      </p:sp>
      <p:cxnSp>
        <p:nvCxnSpPr>
          <p:cNvPr id="20" name="Straight Arrow Connector 19">
            <a:extLst>
              <a:ext uri="{FF2B5EF4-FFF2-40B4-BE49-F238E27FC236}">
                <a16:creationId xmlns:a16="http://schemas.microsoft.com/office/drawing/2014/main" id="{87760B3C-6780-6CFD-DF03-619D93EED06E}"/>
              </a:ext>
            </a:extLst>
          </p:cNvPr>
          <p:cNvCxnSpPr>
            <a:cxnSpLocks/>
          </p:cNvCxnSpPr>
          <p:nvPr/>
        </p:nvCxnSpPr>
        <p:spPr>
          <a:xfrm flipV="1">
            <a:off x="6196901" y="4413358"/>
            <a:ext cx="141890" cy="1397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7D64540C-4620-5B63-7A42-55461CAF56B3}"/>
              </a:ext>
            </a:extLst>
          </p:cNvPr>
          <p:cNvSpPr txBox="1"/>
          <p:nvPr/>
        </p:nvSpPr>
        <p:spPr>
          <a:xfrm>
            <a:off x="6776019" y="5188880"/>
            <a:ext cx="2024293" cy="338554"/>
          </a:xfrm>
          <a:prstGeom prst="rect">
            <a:avLst/>
          </a:prstGeom>
          <a:noFill/>
        </p:spPr>
        <p:txBody>
          <a:bodyPr wrap="square">
            <a:spAutoFit/>
          </a:bodyPr>
          <a:lstStyle/>
          <a:p>
            <a:r>
              <a:rPr lang="en-US" altLang="zh-CN" sz="1600" dirty="0"/>
              <a:t>elasticity</a:t>
            </a:r>
            <a:endParaRPr lang="zh-CN" altLang="en-US" sz="1600" dirty="0"/>
          </a:p>
        </p:txBody>
      </p:sp>
      <p:cxnSp>
        <p:nvCxnSpPr>
          <p:cNvPr id="23" name="Straight Arrow Connector 22">
            <a:extLst>
              <a:ext uri="{FF2B5EF4-FFF2-40B4-BE49-F238E27FC236}">
                <a16:creationId xmlns:a16="http://schemas.microsoft.com/office/drawing/2014/main" id="{6F64C466-7A36-3A28-10CB-D503F8EB336B}"/>
              </a:ext>
            </a:extLst>
          </p:cNvPr>
          <p:cNvCxnSpPr>
            <a:cxnSpLocks/>
          </p:cNvCxnSpPr>
          <p:nvPr/>
        </p:nvCxnSpPr>
        <p:spPr>
          <a:xfrm>
            <a:off x="7046500" y="5005999"/>
            <a:ext cx="185441" cy="182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60210C25-DD67-7C72-55C9-B046306D02B1}"/>
              </a:ext>
            </a:extLst>
          </p:cNvPr>
          <p:cNvSpPr txBox="1"/>
          <p:nvPr/>
        </p:nvSpPr>
        <p:spPr>
          <a:xfrm>
            <a:off x="2311858" y="5806663"/>
            <a:ext cx="7770085" cy="323165"/>
          </a:xfrm>
          <a:prstGeom prst="rect">
            <a:avLst/>
          </a:prstGeom>
          <a:noFill/>
        </p:spPr>
        <p:txBody>
          <a:bodyPr wrap="square">
            <a:spAutoFit/>
          </a:bodyPr>
          <a:lstStyle/>
          <a:p>
            <a:pPr algn="ctr"/>
            <a:r>
              <a:rPr lang="en-US" altLang="zh-CN" sz="1500" dirty="0"/>
              <a:t>Figure 2: Canonical Model For Tax Equilibrium</a:t>
            </a:r>
            <a:endParaRPr lang="zh-CN" altLang="en-US" sz="1100" i="1" dirty="0"/>
          </a:p>
        </p:txBody>
      </p:sp>
    </p:spTree>
    <p:extLst>
      <p:ext uri="{BB962C8B-B14F-4D97-AF65-F5344CB8AC3E}">
        <p14:creationId xmlns:p14="http://schemas.microsoft.com/office/powerpoint/2010/main" val="1097099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02FE-CF62-091F-7AF5-3B4F36E6F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05C56-69E5-BEDC-068B-89959DB443E7}"/>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9CF04698-B6D2-834B-7D33-6F36218FBC91}"/>
              </a:ext>
            </a:extLst>
          </p:cNvPr>
          <p:cNvSpPr>
            <a:spLocks noGrp="1"/>
          </p:cNvSpPr>
          <p:nvPr>
            <p:ph idx="1"/>
          </p:nvPr>
        </p:nvSpPr>
        <p:spPr>
          <a:xfrm>
            <a:off x="838200" y="1690688"/>
            <a:ext cx="10515600" cy="4672275"/>
          </a:xfrm>
        </p:spPr>
        <p:txBody>
          <a:bodyPr/>
          <a:lstStyle/>
          <a:p>
            <a:r>
              <a:rPr lang="en-US" altLang="zh-CN" dirty="0"/>
              <a:t>2)</a:t>
            </a:r>
            <a:r>
              <a:rPr lang="zh-CN" altLang="en-US" dirty="0"/>
              <a:t> </a:t>
            </a:r>
            <a:r>
              <a:rPr lang="en-US" altLang="zh-CN" sz="2600" dirty="0"/>
              <a:t>Tax: Misperceptions</a:t>
            </a:r>
          </a:p>
          <a:p>
            <a:pPr marL="971550" lvl="1" indent="-514350">
              <a:buFont typeface="+mj-lt"/>
              <a:buAutoNum type="arabicPeriod"/>
            </a:pPr>
            <a:endParaRPr lang="en-US" altLang="zh-CN" sz="1600" dirty="0">
              <a:highlight>
                <a:srgbClr val="C0C0C0"/>
              </a:highlight>
            </a:endParaRPr>
          </a:p>
          <a:p>
            <a:pPr marL="971550" lvl="1" indent="-514350">
              <a:buFont typeface="+mj-lt"/>
              <a:buAutoNum type="arabicPeriod"/>
            </a:pPr>
            <a:r>
              <a:rPr lang="en-US" altLang="zh-CN" sz="1600" dirty="0">
                <a:highlight>
                  <a:srgbClr val="C0C0C0"/>
                </a:highlight>
              </a:rPr>
              <a:t>Inequality</a:t>
            </a:r>
            <a:endParaRPr lang="en-US" altLang="zh-CN" sz="1600" dirty="0"/>
          </a:p>
          <a:p>
            <a:pPr marL="457200" lvl="1" indent="0">
              <a:buNone/>
            </a:pPr>
            <a:r>
              <a:rPr lang="en-US" altLang="zh-CN" sz="1600" dirty="0"/>
              <a:t>	</a:t>
            </a:r>
          </a:p>
          <a:p>
            <a:pPr marL="457200" lvl="1" indent="0">
              <a:buNone/>
            </a:pPr>
            <a:br>
              <a:rPr lang="en-US" altLang="zh-CN" sz="1600" u="sng" dirty="0"/>
            </a:br>
            <a:r>
              <a:rPr lang="en-US" altLang="zh-CN" sz="1600" dirty="0"/>
              <a:t>	</a:t>
            </a:r>
          </a:p>
          <a:p>
            <a:pPr marL="457200" lvl="1" indent="0">
              <a:buNone/>
            </a:pPr>
            <a:r>
              <a:rPr lang="en-US" altLang="zh-CN" sz="1600" dirty="0"/>
              <a:t>– They underestimate how rich the rich actually are, and misread the “shape” of the distribution. </a:t>
            </a:r>
          </a:p>
          <a:p>
            <a:pPr marL="457200" lvl="1" indent="0">
              <a:buNone/>
            </a:pPr>
            <a:r>
              <a:rPr lang="en-US" altLang="zh-CN" sz="1600" dirty="0"/>
              <a:t>– They see inequality in income flows, but may not see the much more extreme concentration of wealth and assets. </a:t>
            </a:r>
          </a:p>
        </p:txBody>
      </p:sp>
      <p:sp>
        <p:nvSpPr>
          <p:cNvPr id="12" name="TextBox 11">
            <a:extLst>
              <a:ext uri="{FF2B5EF4-FFF2-40B4-BE49-F238E27FC236}">
                <a16:creationId xmlns:a16="http://schemas.microsoft.com/office/drawing/2014/main" id="{09DAF6FD-485A-424F-DE4D-7E100F5F25BF}"/>
              </a:ext>
            </a:extLst>
          </p:cNvPr>
          <p:cNvSpPr txBox="1"/>
          <p:nvPr/>
        </p:nvSpPr>
        <p:spPr>
          <a:xfrm>
            <a:off x="838200" y="2900202"/>
            <a:ext cx="10235499" cy="677108"/>
          </a:xfrm>
          <a:prstGeom prst="rect">
            <a:avLst/>
          </a:prstGeom>
          <a:noFill/>
        </p:spPr>
        <p:txBody>
          <a:bodyPr wrap="square">
            <a:spAutoFit/>
          </a:bodyPr>
          <a:lstStyle/>
          <a:p>
            <a:r>
              <a:rPr lang="en-US" altLang="zh-CN" sz="2000" dirty="0"/>
              <a:t>But in reality, people often </a:t>
            </a:r>
            <a:r>
              <a:rPr lang="en-US" altLang="zh-CN" sz="2000" u="sng" dirty="0"/>
              <a:t>misperceive both inequality and wealth concentration:</a:t>
            </a:r>
            <a:br>
              <a:rPr lang="en-US" altLang="zh-CN" sz="1400" u="sng" dirty="0"/>
            </a:br>
            <a:endParaRPr lang="zh-CN" altLang="en-US" dirty="0"/>
          </a:p>
        </p:txBody>
      </p:sp>
    </p:spTree>
    <p:extLst>
      <p:ext uri="{BB962C8B-B14F-4D97-AF65-F5344CB8AC3E}">
        <p14:creationId xmlns:p14="http://schemas.microsoft.com/office/powerpoint/2010/main" val="360307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A1F8-991A-D29E-B35E-D9259BFA9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D82AC-9F37-62E1-CBF7-F772693FE47C}"/>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D89A746F-56F5-D68D-9567-47A71D0F4B9B}"/>
              </a:ext>
            </a:extLst>
          </p:cNvPr>
          <p:cNvSpPr>
            <a:spLocks noGrp="1"/>
          </p:cNvSpPr>
          <p:nvPr>
            <p:ph idx="1"/>
          </p:nvPr>
        </p:nvSpPr>
        <p:spPr>
          <a:xfrm>
            <a:off x="838200" y="1690688"/>
            <a:ext cx="10515600" cy="4672275"/>
          </a:xfrm>
        </p:spPr>
        <p:txBody>
          <a:bodyPr/>
          <a:lstStyle/>
          <a:p>
            <a:r>
              <a:rPr lang="en-US" altLang="zh-CN" dirty="0"/>
              <a:t>2)</a:t>
            </a:r>
            <a:r>
              <a:rPr lang="zh-CN" altLang="en-US" dirty="0"/>
              <a:t> </a:t>
            </a:r>
            <a:r>
              <a:rPr lang="en-US" altLang="zh-CN" sz="2600" dirty="0"/>
              <a:t>Tax: Misperceptions</a:t>
            </a:r>
          </a:p>
          <a:p>
            <a:pPr marL="971550" lvl="1" indent="-514350">
              <a:buFont typeface="+mj-lt"/>
              <a:buAutoNum type="arabicPeriod"/>
            </a:pPr>
            <a:endParaRPr lang="en-US" altLang="zh-CN" sz="1600" dirty="0">
              <a:highlight>
                <a:srgbClr val="C0C0C0"/>
              </a:highlight>
            </a:endParaRPr>
          </a:p>
          <a:p>
            <a:pPr marL="971550" lvl="1" indent="-514350">
              <a:buFont typeface="+mj-lt"/>
              <a:buAutoNum type="arabicPeriod"/>
            </a:pPr>
            <a:r>
              <a:rPr lang="en-US" altLang="zh-CN" sz="1600" dirty="0">
                <a:highlight>
                  <a:srgbClr val="C0C0C0"/>
                </a:highlight>
              </a:rPr>
              <a:t>Inequality</a:t>
            </a:r>
            <a:endParaRPr lang="en-US" altLang="zh-CN" sz="1600" dirty="0"/>
          </a:p>
          <a:p>
            <a:pPr marL="457200" lvl="1" indent="0">
              <a:buNone/>
            </a:pPr>
            <a:r>
              <a:rPr lang="en-US" altLang="zh-CN" sz="1600" dirty="0"/>
              <a:t>	</a:t>
            </a:r>
          </a:p>
          <a:p>
            <a:pPr marL="457200" lvl="1" indent="0">
              <a:buNone/>
            </a:pPr>
            <a:br>
              <a:rPr lang="en-US" altLang="zh-CN" sz="1600" u="sng" dirty="0"/>
            </a:br>
            <a:r>
              <a:rPr lang="en-US" altLang="zh-CN" sz="1600" dirty="0"/>
              <a:t>	</a:t>
            </a:r>
          </a:p>
          <a:p>
            <a:pPr marL="457200" lvl="1" indent="0">
              <a:buNone/>
            </a:pPr>
            <a:r>
              <a:rPr lang="en-US" altLang="zh-CN" sz="1600" dirty="0"/>
              <a:t>– They underestimate how rich the rich actually are, and misread the “shape” of the distribution. </a:t>
            </a:r>
          </a:p>
          <a:p>
            <a:pPr marL="457200" lvl="1" indent="0">
              <a:buNone/>
            </a:pPr>
            <a:r>
              <a:rPr lang="en-US" altLang="zh-CN" sz="1600" dirty="0"/>
              <a:t>– They see inequality in income flows, but may not see the much more extreme concentration of wealth and assets. </a:t>
            </a:r>
          </a:p>
        </p:txBody>
      </p:sp>
      <p:sp>
        <p:nvSpPr>
          <p:cNvPr id="12" name="TextBox 11">
            <a:extLst>
              <a:ext uri="{FF2B5EF4-FFF2-40B4-BE49-F238E27FC236}">
                <a16:creationId xmlns:a16="http://schemas.microsoft.com/office/drawing/2014/main" id="{E047954E-D2F5-8D59-EF32-37E4CF11CC3F}"/>
              </a:ext>
            </a:extLst>
          </p:cNvPr>
          <p:cNvSpPr txBox="1"/>
          <p:nvPr/>
        </p:nvSpPr>
        <p:spPr>
          <a:xfrm>
            <a:off x="838200" y="2900202"/>
            <a:ext cx="10235499" cy="677108"/>
          </a:xfrm>
          <a:prstGeom prst="rect">
            <a:avLst/>
          </a:prstGeom>
          <a:noFill/>
        </p:spPr>
        <p:txBody>
          <a:bodyPr wrap="square">
            <a:spAutoFit/>
          </a:bodyPr>
          <a:lstStyle/>
          <a:p>
            <a:r>
              <a:rPr lang="en-US" altLang="zh-CN" sz="2000" dirty="0"/>
              <a:t>But in reality, people often </a:t>
            </a:r>
            <a:r>
              <a:rPr lang="en-US" altLang="zh-CN" sz="2000" u="sng" dirty="0"/>
              <a:t>misperceive both inequality and wealth concentration:</a:t>
            </a:r>
            <a:br>
              <a:rPr lang="en-US" altLang="zh-CN" sz="1400" u="sng" dirty="0"/>
            </a:br>
            <a:endParaRPr lang="zh-CN" altLang="en-US" dirty="0"/>
          </a:p>
        </p:txBody>
      </p:sp>
      <p:sp>
        <p:nvSpPr>
          <p:cNvPr id="17" name="Arc 16">
            <a:extLst>
              <a:ext uri="{FF2B5EF4-FFF2-40B4-BE49-F238E27FC236}">
                <a16:creationId xmlns:a16="http://schemas.microsoft.com/office/drawing/2014/main" id="{4409D646-6CDA-1A22-DA98-24E94BB32830}"/>
              </a:ext>
            </a:extLst>
          </p:cNvPr>
          <p:cNvSpPr/>
          <p:nvPr/>
        </p:nvSpPr>
        <p:spPr>
          <a:xfrm rot="14906026">
            <a:off x="806655" y="3602931"/>
            <a:ext cx="1236017" cy="1267548"/>
          </a:xfrm>
          <a:prstGeom prst="arc">
            <a:avLst>
              <a:gd name="adj1" fmla="val 16200000"/>
              <a:gd name="adj2" fmla="val 443366"/>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19" name="Straight Arrow Connector 18">
            <a:extLst>
              <a:ext uri="{FF2B5EF4-FFF2-40B4-BE49-F238E27FC236}">
                <a16:creationId xmlns:a16="http://schemas.microsoft.com/office/drawing/2014/main" id="{22E0A81D-3B6E-9D9F-E373-940A286FCDFC}"/>
              </a:ext>
            </a:extLst>
          </p:cNvPr>
          <p:cNvCxnSpPr>
            <a:stCxn id="17" idx="0"/>
          </p:cNvCxnSpPr>
          <p:nvPr/>
        </p:nvCxnSpPr>
        <p:spPr>
          <a:xfrm>
            <a:off x="835258" y="4469666"/>
            <a:ext cx="41305" cy="788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098D1F40-00C0-6E02-913C-595A43482158}"/>
              </a:ext>
            </a:extLst>
          </p:cNvPr>
          <p:cNvSpPr txBox="1"/>
          <p:nvPr/>
        </p:nvSpPr>
        <p:spPr>
          <a:xfrm>
            <a:off x="1344799" y="4511039"/>
            <a:ext cx="9621695" cy="1785104"/>
          </a:xfrm>
          <a:prstGeom prst="rect">
            <a:avLst/>
          </a:prstGeom>
          <a:noFill/>
        </p:spPr>
        <p:txBody>
          <a:bodyPr wrap="square">
            <a:spAutoFit/>
          </a:bodyPr>
          <a:lstStyle/>
          <a:p>
            <a:r>
              <a:rPr lang="en-US" altLang="zh-CN" sz="1500" dirty="0"/>
              <a:t>A case study in Netherland led by </a:t>
            </a:r>
            <a:r>
              <a:rPr lang="en-US" altLang="zh-CN" sz="1500" dirty="0" err="1"/>
              <a:t>Douenne</a:t>
            </a:r>
            <a:r>
              <a:rPr lang="en-US" altLang="zh-CN" sz="1500" dirty="0"/>
              <a:t> et al. (2024) find that:</a:t>
            </a:r>
          </a:p>
          <a:p>
            <a:endParaRPr lang="en-US" altLang="zh-CN" sz="1500" dirty="0"/>
          </a:p>
          <a:p>
            <a:pPr marL="342900" indent="-342900">
              <a:buFontTx/>
              <a:buAutoNum type="arabicParenR"/>
            </a:pPr>
            <a:r>
              <a:rPr lang="en-US" altLang="zh-CN" sz="1500" dirty="0"/>
              <a:t>they underestimate the inequality of wealth, compared to income. respondents </a:t>
            </a:r>
            <a:r>
              <a:rPr lang="en-US" altLang="zh-CN" sz="1500" u="sng" dirty="0"/>
              <a:t>think wealth is more unequal than income by 3.4%, while the real statistic is 36%.</a:t>
            </a:r>
          </a:p>
          <a:p>
            <a:pPr marL="342900" indent="-342900">
              <a:buFontTx/>
              <a:buAutoNum type="arabicParenR"/>
            </a:pPr>
            <a:r>
              <a:rPr lang="en-US" altLang="zh-CN" sz="1500" dirty="0"/>
              <a:t>Regardless actual position, most people tend to feel that they are close to the median (both in wealth and income). </a:t>
            </a:r>
            <a:r>
              <a:rPr lang="en-US" altLang="zh-CN" sz="1500" u="sng" dirty="0"/>
              <a:t>1% increase in actual rank only shifts perceived rank by 0.31% for income and 0.27% for wealth</a:t>
            </a:r>
          </a:p>
          <a:p>
            <a:pPr marL="342900" indent="-342900">
              <a:buAutoNum type="arabicParenR"/>
            </a:pPr>
            <a:endParaRPr lang="en-US" altLang="zh-CN" dirty="0"/>
          </a:p>
        </p:txBody>
      </p:sp>
    </p:spTree>
    <p:extLst>
      <p:ext uri="{BB962C8B-B14F-4D97-AF65-F5344CB8AC3E}">
        <p14:creationId xmlns:p14="http://schemas.microsoft.com/office/powerpoint/2010/main" val="852680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A791A-A093-867B-0EAE-33B5B365C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A8FC7-D18A-0808-186C-89B152F1EF7C}"/>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3475DA67-F70C-60C4-4FAC-E629297EA49F}"/>
              </a:ext>
            </a:extLst>
          </p:cNvPr>
          <p:cNvSpPr>
            <a:spLocks noGrp="1"/>
          </p:cNvSpPr>
          <p:nvPr>
            <p:ph idx="1"/>
          </p:nvPr>
        </p:nvSpPr>
        <p:spPr>
          <a:xfrm>
            <a:off x="838200" y="1690688"/>
            <a:ext cx="10515600" cy="4653225"/>
          </a:xfrm>
        </p:spPr>
        <p:txBody>
          <a:bodyPr/>
          <a:lstStyle/>
          <a:p>
            <a:r>
              <a:rPr lang="en-US" altLang="zh-CN" dirty="0"/>
              <a:t>2)</a:t>
            </a:r>
            <a:r>
              <a:rPr lang="zh-CN" altLang="en-US" dirty="0"/>
              <a:t> </a:t>
            </a:r>
            <a:r>
              <a:rPr lang="en-US" altLang="zh-CN" sz="2600" dirty="0"/>
              <a:t>Tax: Misperceptions</a:t>
            </a:r>
          </a:p>
          <a:p>
            <a:pPr marL="971550" lvl="1" indent="-514350">
              <a:buFont typeface="+mj-lt"/>
              <a:buAutoNum type="arabicPeriod"/>
            </a:pPr>
            <a:endParaRPr lang="en-US" altLang="zh-CN" sz="1600" dirty="0">
              <a:highlight>
                <a:srgbClr val="C0C0C0"/>
              </a:highlight>
            </a:endParaRPr>
          </a:p>
          <a:p>
            <a:pPr marL="971550" lvl="1" indent="-514350">
              <a:buFont typeface="+mj-lt"/>
              <a:buAutoNum type="arabicPeriod"/>
            </a:pPr>
            <a:r>
              <a:rPr lang="en-US" altLang="zh-CN" sz="1600" dirty="0">
                <a:highlight>
                  <a:srgbClr val="C0C0C0"/>
                </a:highlight>
              </a:rPr>
              <a:t>Inequality</a:t>
            </a:r>
            <a:endParaRPr lang="en-US" altLang="zh-CN" sz="1600" dirty="0"/>
          </a:p>
          <a:p>
            <a:pPr marL="457200" lvl="1" indent="0">
              <a:buNone/>
            </a:pPr>
            <a:r>
              <a:rPr lang="en-US" altLang="zh-CN" sz="1600" dirty="0"/>
              <a:t>	</a:t>
            </a:r>
          </a:p>
          <a:p>
            <a:pPr marL="457200" lvl="1" indent="0">
              <a:buNone/>
            </a:pPr>
            <a:br>
              <a:rPr lang="en-US" altLang="zh-CN" sz="1600" u="sng" dirty="0"/>
            </a:br>
            <a:r>
              <a:rPr lang="en-US" altLang="zh-CN" sz="1600" dirty="0"/>
              <a:t>	</a:t>
            </a:r>
          </a:p>
          <a:p>
            <a:pPr marL="457200" lvl="1" indent="0">
              <a:buNone/>
            </a:pPr>
            <a:r>
              <a:rPr lang="en-US" altLang="zh-CN" sz="1600" dirty="0"/>
              <a:t>– They underestimate how rich the rich actually are, and misread the “shape” of the distribution. </a:t>
            </a:r>
          </a:p>
          <a:p>
            <a:pPr marL="457200" lvl="1" indent="0">
              <a:buNone/>
            </a:pPr>
            <a:r>
              <a:rPr lang="en-US" altLang="zh-CN" sz="1600" dirty="0"/>
              <a:t>– They see inequality in income flows, but may not see the much more extreme concentration of wealth and assets. </a:t>
            </a:r>
          </a:p>
        </p:txBody>
      </p:sp>
      <p:sp>
        <p:nvSpPr>
          <p:cNvPr id="12" name="TextBox 11">
            <a:extLst>
              <a:ext uri="{FF2B5EF4-FFF2-40B4-BE49-F238E27FC236}">
                <a16:creationId xmlns:a16="http://schemas.microsoft.com/office/drawing/2014/main" id="{A37334F0-A26C-0941-1B0A-C16F87F4BAF2}"/>
              </a:ext>
            </a:extLst>
          </p:cNvPr>
          <p:cNvSpPr txBox="1"/>
          <p:nvPr/>
        </p:nvSpPr>
        <p:spPr>
          <a:xfrm>
            <a:off x="838200" y="2900202"/>
            <a:ext cx="10235499" cy="677108"/>
          </a:xfrm>
          <a:prstGeom prst="rect">
            <a:avLst/>
          </a:prstGeom>
          <a:noFill/>
        </p:spPr>
        <p:txBody>
          <a:bodyPr wrap="square">
            <a:spAutoFit/>
          </a:bodyPr>
          <a:lstStyle/>
          <a:p>
            <a:r>
              <a:rPr lang="en-US" altLang="zh-CN" sz="2000" dirty="0"/>
              <a:t>But in reality, people often </a:t>
            </a:r>
            <a:r>
              <a:rPr lang="en-US" altLang="zh-CN" sz="2000" u="sng" dirty="0"/>
              <a:t>misperceive both inequality and wealth concentration:</a:t>
            </a:r>
            <a:br>
              <a:rPr lang="en-US" altLang="zh-CN" sz="1400" u="sng" dirty="0"/>
            </a:br>
            <a:endParaRPr lang="zh-CN" altLang="en-US" dirty="0"/>
          </a:p>
        </p:txBody>
      </p:sp>
      <p:cxnSp>
        <p:nvCxnSpPr>
          <p:cNvPr id="4" name="Straight Arrow Connector 3">
            <a:extLst>
              <a:ext uri="{FF2B5EF4-FFF2-40B4-BE49-F238E27FC236}">
                <a16:creationId xmlns:a16="http://schemas.microsoft.com/office/drawing/2014/main" id="{EFB06554-B5FC-0189-5321-A44E12072643}"/>
              </a:ext>
            </a:extLst>
          </p:cNvPr>
          <p:cNvCxnSpPr>
            <a:cxnSpLocks/>
          </p:cNvCxnSpPr>
          <p:nvPr/>
        </p:nvCxnSpPr>
        <p:spPr>
          <a:xfrm>
            <a:off x="838200" y="4745429"/>
            <a:ext cx="41305" cy="827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Arc 4">
            <a:extLst>
              <a:ext uri="{FF2B5EF4-FFF2-40B4-BE49-F238E27FC236}">
                <a16:creationId xmlns:a16="http://schemas.microsoft.com/office/drawing/2014/main" id="{E95CA2C4-2066-3CEC-2D33-01844B722AEF}"/>
              </a:ext>
            </a:extLst>
          </p:cNvPr>
          <p:cNvSpPr/>
          <p:nvPr/>
        </p:nvSpPr>
        <p:spPr>
          <a:xfrm rot="14906026">
            <a:off x="807837" y="3877265"/>
            <a:ext cx="1236017" cy="1267548"/>
          </a:xfrm>
          <a:prstGeom prst="arc">
            <a:avLst>
              <a:gd name="adj1" fmla="val 16090007"/>
              <a:gd name="adj2" fmla="val 443366"/>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5F675E04-0C1B-9090-4026-5CF547084586}"/>
              </a:ext>
            </a:extLst>
          </p:cNvPr>
          <p:cNvSpPr txBox="1"/>
          <p:nvPr/>
        </p:nvSpPr>
        <p:spPr>
          <a:xfrm>
            <a:off x="1344799" y="4511039"/>
            <a:ext cx="9577551" cy="1708160"/>
          </a:xfrm>
          <a:prstGeom prst="rect">
            <a:avLst/>
          </a:prstGeom>
          <a:noFill/>
        </p:spPr>
        <p:txBody>
          <a:bodyPr wrap="square">
            <a:spAutoFit/>
          </a:bodyPr>
          <a:lstStyle/>
          <a:p>
            <a:r>
              <a:rPr lang="en-US" altLang="zh-CN" sz="1500" dirty="0"/>
              <a:t>Zucman (2019), in their review article on global wealth inequality finds that:</a:t>
            </a:r>
          </a:p>
          <a:p>
            <a:endParaRPr lang="en-US" altLang="zh-CN" sz="1500" dirty="0"/>
          </a:p>
          <a:p>
            <a:pPr marL="342900" indent="-342900">
              <a:buFontTx/>
              <a:buAutoNum type="arabicParenR"/>
            </a:pPr>
            <a:r>
              <a:rPr lang="en-US" altLang="zh-CN" sz="1500" dirty="0"/>
              <a:t>Combine China, Europe, and the US, the </a:t>
            </a:r>
            <a:r>
              <a:rPr lang="en-US" altLang="zh-CN" sz="1500" u="sng" dirty="0"/>
              <a:t>top 1% wealth share rose from </a:t>
            </a:r>
            <a:r>
              <a:rPr lang="en-US" altLang="zh-CN" sz="1500" b="1" u="sng" dirty="0"/>
              <a:t>28% </a:t>
            </a:r>
            <a:r>
              <a:rPr lang="en-US" altLang="zh-CN" sz="1500" u="sng" dirty="0"/>
              <a:t>in 1980 to around </a:t>
            </a:r>
            <a:r>
              <a:rPr lang="en-US" altLang="zh-CN" sz="1500" b="1" u="sng" dirty="0"/>
              <a:t>33% </a:t>
            </a:r>
            <a:r>
              <a:rPr lang="en-US" altLang="zh-CN" sz="1500" u="sng" dirty="0"/>
              <a:t>today, </a:t>
            </a:r>
            <a:r>
              <a:rPr lang="en-US" altLang="zh-CN" sz="1500" dirty="0"/>
              <a:t>while the bottom 75% consistently own only about </a:t>
            </a:r>
            <a:r>
              <a:rPr lang="en-US" altLang="zh-CN" sz="1500" b="1" dirty="0"/>
              <a:t>10% </a:t>
            </a:r>
            <a:r>
              <a:rPr lang="en-US" altLang="zh-CN" sz="1500" dirty="0"/>
              <a:t>of total wealth.</a:t>
            </a:r>
          </a:p>
          <a:p>
            <a:pPr marL="342900" indent="-342900">
              <a:buFontTx/>
              <a:buAutoNum type="arabicParenR"/>
            </a:pPr>
            <a:r>
              <a:rPr lang="en-US" altLang="zh-CN" sz="1500" dirty="0"/>
              <a:t>existing estimates may understate true inequality, because a </a:t>
            </a:r>
            <a:r>
              <a:rPr lang="en-US" altLang="zh-CN" sz="1500" u="sng" dirty="0"/>
              <a:t>rich people’s assets is deliberately hidden</a:t>
            </a:r>
            <a:r>
              <a:rPr lang="en-US" altLang="zh-CN" sz="1500" dirty="0"/>
              <a:t>. Earlier work estimates that about 8% of the world’s household financial wealth—roughly 10% of world GDP, or around 5–6 trillion USD on the eve of the 2007 crisis—is held </a:t>
            </a:r>
            <a:r>
              <a:rPr lang="en-US" altLang="zh-CN" sz="1500" u="sng" dirty="0"/>
              <a:t>offshore in tax havens</a:t>
            </a:r>
            <a:r>
              <a:rPr lang="en-US" altLang="zh-CN" sz="1500" dirty="0"/>
              <a:t>.</a:t>
            </a:r>
          </a:p>
        </p:txBody>
      </p:sp>
    </p:spTree>
    <p:extLst>
      <p:ext uri="{BB962C8B-B14F-4D97-AF65-F5344CB8AC3E}">
        <p14:creationId xmlns:p14="http://schemas.microsoft.com/office/powerpoint/2010/main" val="1857195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DCAD-5640-AC79-D831-56537C5B2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65DCA-EEF5-E9EA-26E1-A28796CD70D5}"/>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E1D513AE-6A50-2CE7-B398-2DC30A9A3FA4}"/>
              </a:ext>
            </a:extLst>
          </p:cNvPr>
          <p:cNvSpPr>
            <a:spLocks noGrp="1"/>
          </p:cNvSpPr>
          <p:nvPr>
            <p:ph idx="1"/>
          </p:nvPr>
        </p:nvSpPr>
        <p:spPr>
          <a:xfrm>
            <a:off x="838200" y="1690688"/>
            <a:ext cx="10515600" cy="4653225"/>
          </a:xfrm>
        </p:spPr>
        <p:txBody>
          <a:bodyPr/>
          <a:lstStyle/>
          <a:p>
            <a:r>
              <a:rPr lang="en-US" altLang="zh-CN" dirty="0"/>
              <a:t>2)</a:t>
            </a:r>
            <a:r>
              <a:rPr lang="zh-CN" altLang="en-US" dirty="0"/>
              <a:t> </a:t>
            </a:r>
            <a:r>
              <a:rPr lang="en-US" altLang="zh-CN" sz="2600" dirty="0"/>
              <a:t>Tax: Misperceptions</a:t>
            </a:r>
          </a:p>
          <a:p>
            <a:pPr marL="971550" lvl="1" indent="-514350">
              <a:buFont typeface="+mj-lt"/>
              <a:buAutoNum type="arabicPeriod"/>
            </a:pPr>
            <a:endParaRPr lang="en-US" altLang="zh-CN" sz="1600" dirty="0">
              <a:highlight>
                <a:srgbClr val="C0C0C0"/>
              </a:highlight>
            </a:endParaRPr>
          </a:p>
          <a:p>
            <a:pPr marL="971550" lvl="1" indent="-514350">
              <a:buFont typeface="+mj-lt"/>
              <a:buAutoNum type="arabicPeriod"/>
            </a:pPr>
            <a:r>
              <a:rPr lang="en-US" altLang="zh-CN" sz="1600" dirty="0">
                <a:highlight>
                  <a:srgbClr val="C0C0C0"/>
                </a:highlight>
              </a:rPr>
              <a:t>Inequality</a:t>
            </a:r>
            <a:endParaRPr lang="en-US" altLang="zh-CN" sz="1600" dirty="0"/>
          </a:p>
          <a:p>
            <a:pPr marL="457200" lvl="1" indent="0">
              <a:buNone/>
            </a:pPr>
            <a:r>
              <a:rPr lang="en-US" altLang="zh-CN" sz="1600" dirty="0"/>
              <a:t>	</a:t>
            </a:r>
          </a:p>
          <a:p>
            <a:pPr marL="457200" lvl="1" indent="0">
              <a:buNone/>
            </a:pPr>
            <a:br>
              <a:rPr lang="en-US" altLang="zh-CN" sz="1600" u="sng" dirty="0"/>
            </a:br>
            <a:r>
              <a:rPr lang="en-US" altLang="zh-CN" sz="1600" dirty="0"/>
              <a:t>	</a:t>
            </a:r>
          </a:p>
          <a:p>
            <a:pPr marL="457200" lvl="1" indent="0">
              <a:buNone/>
            </a:pPr>
            <a:r>
              <a:rPr lang="en-US" altLang="zh-CN" sz="1600" dirty="0"/>
              <a:t>– They underestimate how rich the rich actually are, and misread the “shape” of the distribution. </a:t>
            </a:r>
          </a:p>
          <a:p>
            <a:pPr marL="457200" lvl="1" indent="0">
              <a:buNone/>
            </a:pPr>
            <a:r>
              <a:rPr lang="en-US" altLang="zh-CN" sz="1600" dirty="0"/>
              <a:t>– They see inequality in income flows, but may not see the much more extreme concentration of wealth and assets. </a:t>
            </a:r>
          </a:p>
        </p:txBody>
      </p:sp>
      <p:sp>
        <p:nvSpPr>
          <p:cNvPr id="12" name="TextBox 11">
            <a:extLst>
              <a:ext uri="{FF2B5EF4-FFF2-40B4-BE49-F238E27FC236}">
                <a16:creationId xmlns:a16="http://schemas.microsoft.com/office/drawing/2014/main" id="{AE6ADE57-1338-55CF-3E4F-1987D940BAB3}"/>
              </a:ext>
            </a:extLst>
          </p:cNvPr>
          <p:cNvSpPr txBox="1"/>
          <p:nvPr/>
        </p:nvSpPr>
        <p:spPr>
          <a:xfrm>
            <a:off x="838200" y="2900202"/>
            <a:ext cx="10235499" cy="677108"/>
          </a:xfrm>
          <a:prstGeom prst="rect">
            <a:avLst/>
          </a:prstGeom>
          <a:noFill/>
        </p:spPr>
        <p:txBody>
          <a:bodyPr wrap="square">
            <a:spAutoFit/>
          </a:bodyPr>
          <a:lstStyle/>
          <a:p>
            <a:r>
              <a:rPr lang="en-US" altLang="zh-CN" sz="2000" dirty="0"/>
              <a:t>But in reality, people often </a:t>
            </a:r>
            <a:r>
              <a:rPr lang="en-US" altLang="zh-CN" sz="2000" u="sng" dirty="0"/>
              <a:t>misperceive both inequality and wealth concentration:</a:t>
            </a:r>
            <a:br>
              <a:rPr lang="en-US" altLang="zh-CN" sz="1400" u="sng" dirty="0"/>
            </a:br>
            <a:endParaRPr lang="zh-CN" altLang="en-US" dirty="0"/>
          </a:p>
        </p:txBody>
      </p:sp>
      <p:sp>
        <p:nvSpPr>
          <p:cNvPr id="10" name="TextBox 9">
            <a:extLst>
              <a:ext uri="{FF2B5EF4-FFF2-40B4-BE49-F238E27FC236}">
                <a16:creationId xmlns:a16="http://schemas.microsoft.com/office/drawing/2014/main" id="{9814CEC6-A2AF-E446-8727-94043EB41858}"/>
              </a:ext>
            </a:extLst>
          </p:cNvPr>
          <p:cNvSpPr txBox="1"/>
          <p:nvPr/>
        </p:nvSpPr>
        <p:spPr>
          <a:xfrm>
            <a:off x="838200" y="4351704"/>
            <a:ext cx="10655913" cy="1631216"/>
          </a:xfrm>
          <a:prstGeom prst="rect">
            <a:avLst/>
          </a:prstGeom>
          <a:noFill/>
        </p:spPr>
        <p:txBody>
          <a:bodyPr wrap="square">
            <a:spAutoFit/>
          </a:bodyPr>
          <a:lstStyle/>
          <a:p>
            <a:r>
              <a:rPr lang="en-US" altLang="zh-CN" sz="2000" dirty="0"/>
              <a:t>Combining perspectives from Zucman and </a:t>
            </a:r>
            <a:r>
              <a:rPr lang="en-US" altLang="zh-CN" sz="2000" dirty="0" err="1"/>
              <a:t>Douenne</a:t>
            </a:r>
            <a:r>
              <a:rPr lang="en-US" altLang="zh-CN" sz="2000" dirty="0"/>
              <a:t> et al., it could be found that people across many regions are underestimating inequality, especially wealth inequality. </a:t>
            </a:r>
          </a:p>
          <a:p>
            <a:endParaRPr lang="en-US" altLang="zh-CN" sz="2000" dirty="0"/>
          </a:p>
          <a:p>
            <a:r>
              <a:rPr lang="en-US" altLang="zh-CN" sz="2000" dirty="0"/>
              <a:t>This </a:t>
            </a:r>
            <a:r>
              <a:rPr lang="en-US" altLang="zh-CN" sz="2000" dirty="0">
                <a:highlight>
                  <a:srgbClr val="C0C0C0"/>
                </a:highlight>
              </a:rPr>
              <a:t>imperfect information</a:t>
            </a:r>
            <a:r>
              <a:rPr lang="en-US" altLang="zh-CN" sz="2000" dirty="0"/>
              <a:t> may lead the policy about taxation in a wrong direction, which eventually affect the redistribution.</a:t>
            </a:r>
          </a:p>
        </p:txBody>
      </p:sp>
      <p:sp>
        <p:nvSpPr>
          <p:cNvPr id="4" name="Arc 3">
            <a:extLst>
              <a:ext uri="{FF2B5EF4-FFF2-40B4-BE49-F238E27FC236}">
                <a16:creationId xmlns:a16="http://schemas.microsoft.com/office/drawing/2014/main" id="{AE4C0F71-ECF9-ECC1-E794-B2FCAEE8B1D3}"/>
              </a:ext>
            </a:extLst>
          </p:cNvPr>
          <p:cNvSpPr/>
          <p:nvPr/>
        </p:nvSpPr>
        <p:spPr>
          <a:xfrm rot="14906026">
            <a:off x="663388" y="3874145"/>
            <a:ext cx="1236017" cy="1267548"/>
          </a:xfrm>
          <a:prstGeom prst="arc">
            <a:avLst>
              <a:gd name="adj1" fmla="val 16090007"/>
              <a:gd name="adj2" fmla="val 443366"/>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5" name="Arc 4">
            <a:extLst>
              <a:ext uri="{FF2B5EF4-FFF2-40B4-BE49-F238E27FC236}">
                <a16:creationId xmlns:a16="http://schemas.microsoft.com/office/drawing/2014/main" id="{FF524477-E6B5-8D67-0C69-0D310E734B0B}"/>
              </a:ext>
            </a:extLst>
          </p:cNvPr>
          <p:cNvSpPr/>
          <p:nvPr/>
        </p:nvSpPr>
        <p:spPr>
          <a:xfrm rot="13212159">
            <a:off x="500292" y="3650564"/>
            <a:ext cx="1236017" cy="1267548"/>
          </a:xfrm>
          <a:prstGeom prst="arc">
            <a:avLst>
              <a:gd name="adj1" fmla="val 16200000"/>
              <a:gd name="adj2" fmla="val 2983604"/>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6" name="Straight Arrow Connector 5">
            <a:extLst>
              <a:ext uri="{FF2B5EF4-FFF2-40B4-BE49-F238E27FC236}">
                <a16:creationId xmlns:a16="http://schemas.microsoft.com/office/drawing/2014/main" id="{FC9D42B9-1C25-187C-9998-DDBE773E20F8}"/>
              </a:ext>
            </a:extLst>
          </p:cNvPr>
          <p:cNvCxnSpPr>
            <a:cxnSpLocks/>
          </p:cNvCxnSpPr>
          <p:nvPr/>
        </p:nvCxnSpPr>
        <p:spPr>
          <a:xfrm>
            <a:off x="698339" y="4753049"/>
            <a:ext cx="41305" cy="827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492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2400-F723-0B94-A60C-FC7707CA2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28275-4021-F40E-5BAC-8D38685F90BC}"/>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E80D3C2C-CCA8-EC40-259E-EB61B329714D}"/>
              </a:ext>
            </a:extLst>
          </p:cNvPr>
          <p:cNvSpPr>
            <a:spLocks noGrp="1"/>
          </p:cNvSpPr>
          <p:nvPr>
            <p:ph idx="1"/>
          </p:nvPr>
        </p:nvSpPr>
        <p:spPr>
          <a:xfrm>
            <a:off x="838200" y="1690688"/>
            <a:ext cx="10576034" cy="4672275"/>
          </a:xfrm>
        </p:spPr>
        <p:txBody>
          <a:bodyPr/>
          <a:lstStyle/>
          <a:p>
            <a:r>
              <a:rPr lang="en-US" altLang="zh-CN" dirty="0"/>
              <a:t>2)</a:t>
            </a:r>
            <a:r>
              <a:rPr lang="zh-CN" altLang="en-US" dirty="0"/>
              <a:t> </a:t>
            </a:r>
            <a:r>
              <a:rPr lang="en-US" altLang="zh-CN" sz="2600" dirty="0"/>
              <a:t>Tax: Globalization &amp; Mobility</a:t>
            </a:r>
          </a:p>
          <a:p>
            <a:pPr marL="971550" lvl="1" indent="-514350">
              <a:buFont typeface="+mj-lt"/>
              <a:buAutoNum type="arabicPeriod" startAt="2"/>
            </a:pPr>
            <a:endParaRPr lang="en-US" altLang="zh-CN" sz="1600" dirty="0">
              <a:highlight>
                <a:srgbClr val="C0C0C0"/>
              </a:highlight>
            </a:endParaRPr>
          </a:p>
          <a:p>
            <a:pPr marL="971550" lvl="1" indent="-514350">
              <a:buFont typeface="+mj-lt"/>
              <a:buAutoNum type="arabicPeriod" startAt="2"/>
            </a:pPr>
            <a:r>
              <a:rPr lang="en-US" altLang="zh-CN" sz="1600" dirty="0">
                <a:highlight>
                  <a:srgbClr val="C0C0C0"/>
                </a:highlight>
              </a:rPr>
              <a:t>Elasticity: Globalization makes the tax base (for mobile capital &amp; top incomes) more elastic.</a:t>
            </a:r>
          </a:p>
          <a:p>
            <a:pPr marL="457200" lvl="1" indent="0">
              <a:buNone/>
            </a:pPr>
            <a:r>
              <a:rPr lang="en-US" altLang="zh-CN" sz="1600" dirty="0"/>
              <a:t>	</a:t>
            </a:r>
          </a:p>
          <a:p>
            <a:pPr marL="457200" lvl="1" indent="0">
              <a:buNone/>
            </a:pPr>
            <a:r>
              <a:rPr lang="en-US" altLang="zh-CN" sz="1600" dirty="0"/>
              <a:t>	During the last 40 years, globalization and financial liberalization make the tax base for top incomes and capital 	</a:t>
            </a:r>
            <a:r>
              <a:rPr lang="en-US" altLang="zh-CN" sz="1600" u="sng" dirty="0"/>
              <a:t>more mobile across borders:</a:t>
            </a:r>
          </a:p>
          <a:p>
            <a:pPr lvl="4"/>
            <a:r>
              <a:rPr lang="en-US" altLang="zh-CN" sz="1500" dirty="0"/>
              <a:t>Multinational firms can shift production locations and reported profits across countries.</a:t>
            </a:r>
          </a:p>
          <a:p>
            <a:pPr lvl="4"/>
            <a:r>
              <a:rPr lang="en-US" altLang="zh-CN" sz="1600" dirty="0"/>
              <a:t>High-wealth individuals can move financial assets into tax havens. (Zucman, 2019)</a:t>
            </a:r>
          </a:p>
          <a:p>
            <a:pPr lvl="4"/>
            <a:r>
              <a:rPr lang="en-US" altLang="zh-CN" sz="1600" dirty="0"/>
              <a:t>companies have more freedom to choose many countries to operate in, so governments compete harder to attract them. (</a:t>
            </a:r>
            <a:r>
              <a:rPr lang="en-US" altLang="zh-CN" sz="1600" dirty="0" err="1"/>
              <a:t>Helpman</a:t>
            </a:r>
            <a:r>
              <a:rPr lang="en-US" altLang="zh-CN" sz="1600" dirty="0"/>
              <a:t> et al., 2017) </a:t>
            </a:r>
            <a:endParaRPr lang="en-US" altLang="zh-CN" sz="1500" u="sng" dirty="0"/>
          </a:p>
        </p:txBody>
      </p:sp>
    </p:spTree>
    <p:extLst>
      <p:ext uri="{BB962C8B-B14F-4D97-AF65-F5344CB8AC3E}">
        <p14:creationId xmlns:p14="http://schemas.microsoft.com/office/powerpoint/2010/main" val="1782527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77D0-355D-4BF5-BC2B-B43C134E2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572C5-5E1F-35E4-752B-0D8E83CFC1FC}"/>
              </a:ext>
            </a:extLst>
          </p:cNvPr>
          <p:cNvSpPr>
            <a:spLocks noGrp="1"/>
          </p:cNvSpPr>
          <p:nvPr>
            <p:ph type="title"/>
          </p:nvPr>
        </p:nvSpPr>
        <p:spPr/>
        <p:txBody>
          <a:bodyPr>
            <a:normAutofit/>
          </a:bodyPr>
          <a:lstStyle/>
          <a:p>
            <a:r>
              <a:rPr lang="en-US" altLang="zh-CN" sz="3000" dirty="0"/>
              <a:t>Why An Increase In Redistribution Did Not Happen?</a:t>
            </a:r>
            <a:endParaRPr lang="zh-CN" altLang="en-US" sz="3000" dirty="0"/>
          </a:p>
        </p:txBody>
      </p:sp>
      <p:sp>
        <p:nvSpPr>
          <p:cNvPr id="3" name="Content Placeholder 2">
            <a:extLst>
              <a:ext uri="{FF2B5EF4-FFF2-40B4-BE49-F238E27FC236}">
                <a16:creationId xmlns:a16="http://schemas.microsoft.com/office/drawing/2014/main" id="{4AE19B33-BA25-9144-701F-68E2693D5A96}"/>
              </a:ext>
            </a:extLst>
          </p:cNvPr>
          <p:cNvSpPr>
            <a:spLocks noGrp="1"/>
          </p:cNvSpPr>
          <p:nvPr>
            <p:ph idx="1"/>
          </p:nvPr>
        </p:nvSpPr>
        <p:spPr>
          <a:xfrm>
            <a:off x="838200" y="1690688"/>
            <a:ext cx="10576034" cy="4672275"/>
          </a:xfrm>
        </p:spPr>
        <p:txBody>
          <a:bodyPr/>
          <a:lstStyle/>
          <a:p>
            <a:r>
              <a:rPr lang="en-US" altLang="zh-CN" dirty="0"/>
              <a:t>2)</a:t>
            </a:r>
            <a:r>
              <a:rPr lang="zh-CN" altLang="en-US" dirty="0"/>
              <a:t> </a:t>
            </a:r>
            <a:r>
              <a:rPr lang="en-US" altLang="zh-CN" sz="2600" dirty="0"/>
              <a:t>Tax: Globalization &amp; Mobility</a:t>
            </a:r>
          </a:p>
          <a:p>
            <a:pPr marL="971550" lvl="1" indent="-514350">
              <a:buFont typeface="+mj-lt"/>
              <a:buAutoNum type="arabicPeriod" startAt="2"/>
            </a:pPr>
            <a:endParaRPr lang="en-US" altLang="zh-CN" sz="1600" dirty="0">
              <a:highlight>
                <a:srgbClr val="C0C0C0"/>
              </a:highlight>
            </a:endParaRPr>
          </a:p>
          <a:p>
            <a:pPr marL="971550" lvl="1" indent="-514350">
              <a:buFont typeface="+mj-lt"/>
              <a:buAutoNum type="arabicPeriod" startAt="2"/>
            </a:pPr>
            <a:r>
              <a:rPr lang="en-US" altLang="zh-CN" sz="1600" dirty="0">
                <a:highlight>
                  <a:srgbClr val="C0C0C0"/>
                </a:highlight>
              </a:rPr>
              <a:t>Elasticity: Globalization makes the tax base (for mobile capital &amp; top incomes) more elastic.</a:t>
            </a:r>
            <a:endParaRPr lang="en-US" altLang="zh-CN" sz="1600" dirty="0"/>
          </a:p>
          <a:p>
            <a:pPr marL="457200" lvl="1" indent="0">
              <a:buNone/>
            </a:pPr>
            <a:r>
              <a:rPr lang="en-US" altLang="zh-CN" sz="1600" dirty="0"/>
              <a:t>	</a:t>
            </a:r>
          </a:p>
          <a:p>
            <a:pPr marL="457200" lvl="1" indent="0">
              <a:buNone/>
            </a:pPr>
            <a:r>
              <a:rPr lang="en-US" altLang="zh-CN" sz="1600" dirty="0"/>
              <a:t>	During the last 40 years, globalization and financial liberalization make the tax base for top incomes and capital 	</a:t>
            </a:r>
            <a:r>
              <a:rPr lang="en-US" altLang="zh-CN" sz="1600" u="sng" dirty="0"/>
              <a:t>more mobile across borders:</a:t>
            </a:r>
          </a:p>
          <a:p>
            <a:pPr lvl="4"/>
            <a:r>
              <a:rPr lang="en-US" altLang="zh-CN" sz="1500" dirty="0"/>
              <a:t>Multinational firms can shift production locations and reported profits across countries.</a:t>
            </a:r>
          </a:p>
          <a:p>
            <a:pPr lvl="4"/>
            <a:r>
              <a:rPr lang="en-US" altLang="zh-CN" sz="1600" dirty="0"/>
              <a:t>High-wealth individuals can move financial assets into tax havens. (Zucman, 2019)</a:t>
            </a:r>
          </a:p>
          <a:p>
            <a:pPr lvl="4"/>
            <a:r>
              <a:rPr lang="en-US" altLang="zh-CN" sz="1600" dirty="0"/>
              <a:t>companies have more freedom to choose many countries to operate in, so governments compete harder to attract them. (</a:t>
            </a:r>
            <a:r>
              <a:rPr lang="en-US" altLang="zh-CN" sz="1600" dirty="0" err="1"/>
              <a:t>Helpman</a:t>
            </a:r>
            <a:r>
              <a:rPr lang="en-US" altLang="zh-CN" sz="1600" dirty="0"/>
              <a:t> et al., 2017) </a:t>
            </a:r>
            <a:endParaRPr lang="en-US" altLang="zh-CN" sz="1500" u="sng" dirty="0"/>
          </a:p>
        </p:txBody>
      </p:sp>
      <p:cxnSp>
        <p:nvCxnSpPr>
          <p:cNvPr id="4" name="Straight Arrow Connector 3">
            <a:extLst>
              <a:ext uri="{FF2B5EF4-FFF2-40B4-BE49-F238E27FC236}">
                <a16:creationId xmlns:a16="http://schemas.microsoft.com/office/drawing/2014/main" id="{F98783D0-496D-FE1F-B0D7-219F0910C985}"/>
              </a:ext>
            </a:extLst>
          </p:cNvPr>
          <p:cNvCxnSpPr>
            <a:cxnSpLocks/>
          </p:cNvCxnSpPr>
          <p:nvPr/>
        </p:nvCxnSpPr>
        <p:spPr>
          <a:xfrm flipH="1">
            <a:off x="1929699" y="4319752"/>
            <a:ext cx="428822" cy="5990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C596A60B-3B20-B4A4-3FEC-255D965C3988}"/>
              </a:ext>
            </a:extLst>
          </p:cNvPr>
          <p:cNvSpPr txBox="1"/>
          <p:nvPr/>
        </p:nvSpPr>
        <p:spPr>
          <a:xfrm>
            <a:off x="1135118" y="5039524"/>
            <a:ext cx="10480915" cy="1323439"/>
          </a:xfrm>
          <a:prstGeom prst="rect">
            <a:avLst/>
          </a:prstGeom>
          <a:noFill/>
        </p:spPr>
        <p:txBody>
          <a:bodyPr wrap="square">
            <a:spAutoFit/>
          </a:bodyPr>
          <a:lstStyle/>
          <a:p>
            <a:r>
              <a:rPr lang="en-US" altLang="zh-CN" sz="1600" dirty="0"/>
              <a:t>So even if the </a:t>
            </a:r>
            <a:r>
              <a:rPr lang="en-US" altLang="zh-CN" sz="1600" u="sng" dirty="0"/>
              <a:t>domestic</a:t>
            </a:r>
            <a:r>
              <a:rPr lang="en-US" altLang="zh-CN" sz="1600" dirty="0"/>
              <a:t> median voter would like to tax the rich more, policy-makers perceive “strong external constraints”. </a:t>
            </a:r>
          </a:p>
          <a:p>
            <a:r>
              <a:rPr lang="en-US" altLang="zh-CN" sz="1600" dirty="0"/>
              <a:t>They respond by:</a:t>
            </a:r>
            <a:br>
              <a:rPr lang="en-US" altLang="zh-CN" sz="1600" dirty="0"/>
            </a:br>
            <a:r>
              <a:rPr lang="en-US" altLang="zh-CN" sz="1600" dirty="0"/>
              <a:t>- cutting corporate tax rates,</a:t>
            </a:r>
            <a:br>
              <a:rPr lang="en-US" altLang="zh-CN" sz="1600" dirty="0"/>
            </a:br>
            <a:r>
              <a:rPr lang="en-US" altLang="zh-CN" sz="1600" dirty="0"/>
              <a:t>- keeping capital taxes low,</a:t>
            </a:r>
            <a:br>
              <a:rPr lang="en-US" altLang="zh-CN" sz="1600" dirty="0"/>
            </a:br>
            <a:r>
              <a:rPr lang="en-US" altLang="zh-CN" sz="1600" dirty="0"/>
              <a:t>- and relying more on broad consumption taxes (indirect taxes).</a:t>
            </a:r>
            <a:endParaRPr lang="zh-CN" altLang="en-US" sz="1600" dirty="0"/>
          </a:p>
        </p:txBody>
      </p:sp>
      <p:sp>
        <p:nvSpPr>
          <p:cNvPr id="13" name="TextBox 12">
            <a:extLst>
              <a:ext uri="{FF2B5EF4-FFF2-40B4-BE49-F238E27FC236}">
                <a16:creationId xmlns:a16="http://schemas.microsoft.com/office/drawing/2014/main" id="{FF5E4052-5135-0157-5FB2-B63A8BCA0786}"/>
              </a:ext>
            </a:extLst>
          </p:cNvPr>
          <p:cNvSpPr txBox="1"/>
          <p:nvPr/>
        </p:nvSpPr>
        <p:spPr>
          <a:xfrm>
            <a:off x="9150439" y="5589921"/>
            <a:ext cx="2465594" cy="830997"/>
          </a:xfrm>
          <a:prstGeom prst="rect">
            <a:avLst/>
          </a:prstGeom>
          <a:noFill/>
        </p:spPr>
        <p:txBody>
          <a:bodyPr wrap="square">
            <a:spAutoFit/>
          </a:bodyPr>
          <a:lstStyle/>
          <a:p>
            <a:r>
              <a:rPr lang="en-US" altLang="zh-CN" sz="1600" dirty="0"/>
              <a:t>- Relocate firm,</a:t>
            </a:r>
            <a:br>
              <a:rPr lang="en-US" altLang="zh-CN" sz="1600" dirty="0"/>
            </a:br>
            <a:r>
              <a:rPr lang="en-US" altLang="zh-CN" sz="1600" dirty="0"/>
              <a:t>- capital flight,</a:t>
            </a:r>
            <a:br>
              <a:rPr lang="en-US" altLang="zh-CN" sz="1600" dirty="0"/>
            </a:br>
            <a:r>
              <a:rPr lang="en-US" altLang="zh-CN" sz="1600" dirty="0"/>
              <a:t>- reduce investment.</a:t>
            </a:r>
            <a:endParaRPr lang="zh-CN" altLang="en-US" sz="1600" dirty="0"/>
          </a:p>
        </p:txBody>
      </p:sp>
      <p:cxnSp>
        <p:nvCxnSpPr>
          <p:cNvPr id="14" name="Straight Arrow Connector 13">
            <a:extLst>
              <a:ext uri="{FF2B5EF4-FFF2-40B4-BE49-F238E27FC236}">
                <a16:creationId xmlns:a16="http://schemas.microsoft.com/office/drawing/2014/main" id="{9773031D-1BDE-1CB6-2F27-15ED61D9AD98}"/>
              </a:ext>
            </a:extLst>
          </p:cNvPr>
          <p:cNvCxnSpPr>
            <a:cxnSpLocks/>
          </p:cNvCxnSpPr>
          <p:nvPr/>
        </p:nvCxnSpPr>
        <p:spPr>
          <a:xfrm>
            <a:off x="10168158" y="5344732"/>
            <a:ext cx="0" cy="2451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80374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E8E1F-52E4-D3D0-96E4-E51C9BB4E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A1F81-BFB4-4EAE-6A3C-AD88EACAFA97}"/>
              </a:ext>
            </a:extLst>
          </p:cNvPr>
          <p:cNvSpPr>
            <a:spLocks noGrp="1"/>
          </p:cNvSpPr>
          <p:nvPr>
            <p:ph type="title"/>
          </p:nvPr>
        </p:nvSpPr>
        <p:spPr/>
        <p:txBody>
          <a:bodyPr>
            <a:normAutofit/>
          </a:bodyPr>
          <a:lstStyle/>
          <a:p>
            <a:r>
              <a:rPr lang="en-US" altLang="zh-CN" sz="3000" dirty="0"/>
              <a:t>Summaries</a:t>
            </a:r>
            <a:endParaRPr lang="zh-CN" altLang="en-US" sz="3000" dirty="0"/>
          </a:p>
        </p:txBody>
      </p:sp>
      <p:sp>
        <p:nvSpPr>
          <p:cNvPr id="3" name="Content Placeholder 2">
            <a:extLst>
              <a:ext uri="{FF2B5EF4-FFF2-40B4-BE49-F238E27FC236}">
                <a16:creationId xmlns:a16="http://schemas.microsoft.com/office/drawing/2014/main" id="{9D78F867-3A6E-B2F4-70A2-A2C5A5761757}"/>
              </a:ext>
            </a:extLst>
          </p:cNvPr>
          <p:cNvSpPr>
            <a:spLocks noGrp="1"/>
          </p:cNvSpPr>
          <p:nvPr>
            <p:ph idx="1"/>
          </p:nvPr>
        </p:nvSpPr>
        <p:spPr>
          <a:xfrm>
            <a:off x="838200" y="1690688"/>
            <a:ext cx="10576034" cy="4672275"/>
          </a:xfrm>
        </p:spPr>
        <p:txBody>
          <a:bodyPr/>
          <a:lstStyle/>
          <a:p>
            <a:r>
              <a:rPr lang="en-US" altLang="zh-CN" dirty="0"/>
              <a:t>1)</a:t>
            </a:r>
            <a:r>
              <a:rPr lang="zh-CN" altLang="en-US" dirty="0"/>
              <a:t> </a:t>
            </a:r>
            <a:r>
              <a:rPr lang="en-US" altLang="zh-CN" dirty="0"/>
              <a:t>Political Inequality &amp; Elite Capture</a:t>
            </a:r>
          </a:p>
          <a:p>
            <a:pPr marL="0" indent="0">
              <a:buNone/>
            </a:pPr>
            <a:r>
              <a:rPr lang="en-US" altLang="zh-CN" sz="1800" dirty="0"/>
              <a:t>Indonesia example: MVT’s assumption on </a:t>
            </a:r>
            <a:r>
              <a:rPr lang="en-US" altLang="zh-CN" sz="1800" dirty="0">
                <a:highlight>
                  <a:srgbClr val="C0C0C0"/>
                </a:highlight>
              </a:rPr>
              <a:t>similar influence on policy</a:t>
            </a:r>
            <a:r>
              <a:rPr lang="en-US" altLang="zh-CN" sz="1800" dirty="0"/>
              <a:t> could be hard to achieve in some countries due to their historical politics legacy ()</a:t>
            </a:r>
          </a:p>
          <a:p>
            <a:pPr marL="0" indent="0">
              <a:buNone/>
            </a:pPr>
            <a:endParaRPr lang="en-US" altLang="zh-CN" sz="1800" dirty="0"/>
          </a:p>
          <a:p>
            <a:pPr marL="0" indent="0">
              <a:buNone/>
            </a:pPr>
            <a:r>
              <a:rPr lang="en-US" altLang="zh-CN" sz="1800" dirty="0"/>
              <a:t>Sweden example: Rich people participate political activities more actively; </a:t>
            </a:r>
            <a:r>
              <a:rPr lang="en-US" altLang="zh-CN" sz="1800" dirty="0">
                <a:highlight>
                  <a:srgbClr val="C0C0C0"/>
                </a:highlight>
              </a:rPr>
              <a:t>politicians != “true median”, </a:t>
            </a:r>
            <a:r>
              <a:rPr lang="en-US" altLang="zh-CN" sz="1800" dirty="0"/>
              <a:t>they are from a richer, better educated background.</a:t>
            </a:r>
            <a:endParaRPr lang="en-US" altLang="zh-CN" dirty="0"/>
          </a:p>
          <a:p>
            <a:r>
              <a:rPr lang="en-US" altLang="zh-CN" dirty="0"/>
              <a:t>2)</a:t>
            </a:r>
            <a:r>
              <a:rPr lang="zh-CN" altLang="en-US" dirty="0"/>
              <a:t> </a:t>
            </a:r>
            <a:r>
              <a:rPr lang="en-US" altLang="zh-CN" dirty="0"/>
              <a:t>Tax</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People’s general </a:t>
            </a:r>
            <a:r>
              <a:rPr kumimoji="0" lang="en-US" altLang="zh-CN" sz="1800" b="0" i="0" u="none" strike="noStrike" kern="1200" cap="none" spc="0" normalizeH="0" baseline="0" noProof="0" dirty="0">
                <a:ln>
                  <a:noFill/>
                </a:ln>
                <a:solidFill>
                  <a:prstClr val="black"/>
                </a:solidFill>
                <a:effectLst/>
                <a:highlight>
                  <a:srgbClr val="C0C0C0"/>
                </a:highlight>
                <a:uLnTx/>
                <a:uFillTx/>
                <a:latin typeface="Calibri"/>
                <a:ea typeface="微软雅黑" panose="020B0503020204020204" pitchFamily="34" charset="-122"/>
                <a:cs typeface="+mn-cs"/>
              </a:rPr>
              <a:t>misperception about inequality </a:t>
            </a:r>
            <a:r>
              <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rPr>
              <a:t>might lead tax policies in a biased direction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1800" b="0" i="0" u="none" strike="noStrike" kern="1200" cap="none" spc="0" normalizeH="0" baseline="0" noProof="0" dirty="0">
              <a:ln>
                <a:noFill/>
              </a:ln>
              <a:solidFill>
                <a:prstClr val="black"/>
              </a:solidFill>
              <a:effectLst/>
              <a:uLnTx/>
              <a:uFillTx/>
              <a:latin typeface="Calibri"/>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1800" dirty="0">
                <a:solidFill>
                  <a:prstClr val="black"/>
                </a:solidFill>
                <a:latin typeface="Calibri"/>
                <a:ea typeface="微软雅黑" panose="020B0503020204020204" pitchFamily="34" charset="-122"/>
              </a:rPr>
              <a:t>Increasing </a:t>
            </a:r>
            <a:r>
              <a:rPr lang="en-US" altLang="zh-CN" sz="1800" dirty="0">
                <a:solidFill>
                  <a:prstClr val="black"/>
                </a:solidFill>
                <a:highlight>
                  <a:srgbClr val="C0C0C0"/>
                </a:highlight>
                <a:latin typeface="Calibri"/>
                <a:ea typeface="微软雅黑" panose="020B0503020204020204" pitchFamily="34" charset="-122"/>
              </a:rPr>
              <a:t>globalization pressure </a:t>
            </a:r>
            <a:r>
              <a:rPr lang="en-US" altLang="zh-CN" sz="1800" dirty="0">
                <a:solidFill>
                  <a:prstClr val="black"/>
                </a:solidFill>
                <a:latin typeface="Calibri"/>
                <a:ea typeface="微软雅黑" panose="020B0503020204020204" pitchFamily="34" charset="-122"/>
              </a:rPr>
              <a:t>challenges governments in listening to voices of medians.</a:t>
            </a:r>
            <a:endParaRPr lang="en-US" altLang="zh-CN" dirty="0"/>
          </a:p>
        </p:txBody>
      </p:sp>
    </p:spTree>
    <p:extLst>
      <p:ext uri="{BB962C8B-B14F-4D97-AF65-F5344CB8AC3E}">
        <p14:creationId xmlns:p14="http://schemas.microsoft.com/office/powerpoint/2010/main" val="3499219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71FE-9771-9C81-B156-E968F1CAC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5EAB4-E1B1-8CBF-6104-51D5C81C8C1D}"/>
              </a:ext>
            </a:extLst>
          </p:cNvPr>
          <p:cNvSpPr>
            <a:spLocks noGrp="1"/>
          </p:cNvSpPr>
          <p:nvPr>
            <p:ph type="title"/>
          </p:nvPr>
        </p:nvSpPr>
        <p:spPr>
          <a:xfrm>
            <a:off x="567559" y="377737"/>
            <a:ext cx="10515600" cy="1325563"/>
          </a:xfrm>
        </p:spPr>
        <p:txBody>
          <a:bodyPr>
            <a:normAutofit/>
          </a:bodyPr>
          <a:lstStyle/>
          <a:p>
            <a:r>
              <a:rPr lang="en-US" altLang="zh-CN" sz="3000" dirty="0"/>
              <a:t>Bibliography</a:t>
            </a:r>
            <a:endParaRPr lang="zh-CN" altLang="en-US" sz="3000" dirty="0"/>
          </a:p>
        </p:txBody>
      </p:sp>
      <p:sp>
        <p:nvSpPr>
          <p:cNvPr id="3" name="Content Placeholder 2">
            <a:extLst>
              <a:ext uri="{FF2B5EF4-FFF2-40B4-BE49-F238E27FC236}">
                <a16:creationId xmlns:a16="http://schemas.microsoft.com/office/drawing/2014/main" id="{EA5FDBD0-C0BB-BE07-02B4-92F0C47D7D8C}"/>
              </a:ext>
            </a:extLst>
          </p:cNvPr>
          <p:cNvSpPr>
            <a:spLocks noGrp="1"/>
          </p:cNvSpPr>
          <p:nvPr>
            <p:ph idx="1"/>
          </p:nvPr>
        </p:nvSpPr>
        <p:spPr>
          <a:xfrm>
            <a:off x="567559" y="1557633"/>
            <a:ext cx="11206129" cy="4805330"/>
          </a:xfrm>
        </p:spPr>
        <p:txBody>
          <a:bodyPr>
            <a:normAutofit/>
          </a:bodyPr>
          <a:lstStyle/>
          <a:p>
            <a:pPr marL="0" indent="0">
              <a:buNone/>
            </a:pPr>
            <a:r>
              <a:rPr lang="en-US" altLang="zh-CN" sz="1600" dirty="0"/>
              <a:t>Dal Bó, E., et al. (2017). Who becomes a politician? </a:t>
            </a:r>
            <a:r>
              <a:rPr lang="en-US" altLang="zh-CN" sz="1600" i="1" dirty="0"/>
              <a:t>Quarterly Journal of Economics, 132</a:t>
            </a:r>
            <a:r>
              <a:rPr lang="en-US" altLang="zh-CN" sz="1600" dirty="0"/>
              <a:t>(4), 1877–1914.</a:t>
            </a:r>
          </a:p>
          <a:p>
            <a:pPr marL="0" indent="0">
              <a:buNone/>
            </a:pPr>
            <a:endParaRPr lang="en-US" altLang="zh-CN" sz="100" dirty="0"/>
          </a:p>
          <a:p>
            <a:pPr marL="0" indent="0">
              <a:buNone/>
            </a:pPr>
            <a:r>
              <a:rPr lang="en-US" altLang="zh-CN" sz="1600" dirty="0" err="1"/>
              <a:t>Douenne</a:t>
            </a:r>
            <a:r>
              <a:rPr lang="en-US" altLang="zh-CN" sz="1600" dirty="0"/>
              <a:t>, T., et al. (2024). </a:t>
            </a:r>
            <a:r>
              <a:rPr lang="en-US" altLang="zh-CN" sz="1600" i="1" dirty="0"/>
              <a:t>Equating inequality: Public perceptions of income and wealth distributions</a:t>
            </a:r>
            <a:r>
              <a:rPr lang="en-US" altLang="zh-CN" sz="1600" dirty="0"/>
              <a:t>. </a:t>
            </a:r>
            <a:r>
              <a:rPr lang="en-US" altLang="zh-CN" sz="1600" dirty="0" err="1"/>
              <a:t>VoxEU</a:t>
            </a:r>
            <a:r>
              <a:rPr lang="en-US" altLang="zh-CN" sz="1600" dirty="0"/>
              <a:t>.</a:t>
            </a:r>
          </a:p>
          <a:p>
            <a:pPr marL="0" indent="0">
              <a:buNone/>
            </a:pPr>
            <a:endParaRPr lang="en-US" altLang="zh-CN" sz="100" dirty="0"/>
          </a:p>
          <a:p>
            <a:pPr marL="0" indent="0">
              <a:buNone/>
            </a:pPr>
            <a:r>
              <a:rPr lang="en-US" altLang="zh-CN" sz="1600" dirty="0" err="1"/>
              <a:t>Helpman</a:t>
            </a:r>
            <a:r>
              <a:rPr lang="en-US" altLang="zh-CN" sz="1600" dirty="0"/>
              <a:t>, E., et al. (2017). Trade and inequality: From theory to estimation. </a:t>
            </a:r>
            <a:r>
              <a:rPr lang="en-US" altLang="zh-CN" sz="1600" i="1" dirty="0"/>
              <a:t>Review of Economic Studies, 84</a:t>
            </a:r>
            <a:r>
              <a:rPr lang="en-US" altLang="zh-CN" sz="1600" dirty="0"/>
              <a:t>(1), 357–405.</a:t>
            </a:r>
          </a:p>
          <a:p>
            <a:pPr marL="0" indent="0">
              <a:buNone/>
            </a:pPr>
            <a:endParaRPr lang="en-US" altLang="zh-CN" sz="100" dirty="0"/>
          </a:p>
          <a:p>
            <a:pPr marL="0" indent="0">
              <a:buNone/>
            </a:pPr>
            <a:r>
              <a:rPr lang="en-US" altLang="zh-CN" sz="1600" dirty="0"/>
              <a:t>Martinez-Bravo, M., Mukherjee, P., &amp; Stegmann, A. (2017). The non-democratic roots of elite capture: Evidence from </a:t>
            </a:r>
            <a:r>
              <a:rPr lang="en-US" altLang="zh-CN" sz="1600" dirty="0" err="1"/>
              <a:t>Soeharto</a:t>
            </a:r>
            <a:r>
              <a:rPr lang="en-US" altLang="zh-CN" sz="1600" dirty="0"/>
              <a:t> mayors in Indonesia. </a:t>
            </a:r>
            <a:r>
              <a:rPr lang="en-US" altLang="zh-CN" sz="1600" i="1" dirty="0" err="1"/>
              <a:t>Econometrica</a:t>
            </a:r>
            <a:r>
              <a:rPr lang="en-US" altLang="zh-CN" sz="1600" i="1" dirty="0"/>
              <a:t>, 85</a:t>
            </a:r>
            <a:r>
              <a:rPr lang="en-US" altLang="zh-CN" sz="1600" dirty="0"/>
              <a:t>(6), 1991–2010.</a:t>
            </a:r>
          </a:p>
          <a:p>
            <a:pPr marL="0" indent="0">
              <a:buNone/>
            </a:pPr>
            <a:endParaRPr lang="en-US" altLang="zh-CN" sz="100" dirty="0"/>
          </a:p>
          <a:p>
            <a:pPr marL="0" indent="0">
              <a:buNone/>
            </a:pPr>
            <a:r>
              <a:rPr lang="en-US" altLang="zh-CN" sz="1600" dirty="0"/>
              <a:t>Meltzer, A. H., &amp; Richard, S. F. (1981). A rational theory of the size of government. Journal of Political Economy, 89(5), 914–927.</a:t>
            </a:r>
          </a:p>
          <a:p>
            <a:pPr marL="0" indent="0">
              <a:buNone/>
            </a:pPr>
            <a:endParaRPr lang="en-US" altLang="zh-CN" sz="100" dirty="0"/>
          </a:p>
          <a:p>
            <a:pPr marL="0" indent="0">
              <a:buNone/>
            </a:pPr>
            <a:r>
              <a:rPr lang="en-US" altLang="zh-CN" sz="1600" dirty="0"/>
              <a:t>World Bank. (2025). Poverty and Inequality Platform (PIP) Dataset. World Bank.</a:t>
            </a:r>
          </a:p>
          <a:p>
            <a:pPr marL="0" indent="0">
              <a:buNone/>
            </a:pPr>
            <a:endParaRPr lang="en-US" altLang="zh-CN" sz="100" dirty="0"/>
          </a:p>
          <a:p>
            <a:pPr marL="0" indent="0">
              <a:buNone/>
            </a:pPr>
            <a:r>
              <a:rPr lang="en-US" altLang="zh-CN" sz="1600" dirty="0"/>
              <a:t>Zucman, G. (2019). Global wealth inequality. </a:t>
            </a:r>
            <a:r>
              <a:rPr lang="en-US" altLang="zh-CN" sz="1600" i="1" dirty="0"/>
              <a:t>Annual Review of Economics, 11</a:t>
            </a:r>
            <a:r>
              <a:rPr lang="en-US" altLang="zh-CN" sz="1600" dirty="0"/>
              <a:t>, 109–138.</a:t>
            </a:r>
          </a:p>
          <a:p>
            <a:pPr marL="0" indent="0">
              <a:buNone/>
            </a:pPr>
            <a:endParaRPr lang="en-US" altLang="zh-CN" sz="1600" dirty="0"/>
          </a:p>
          <a:p>
            <a:pPr marL="0" indent="0">
              <a:buNone/>
            </a:pPr>
            <a:endParaRPr lang="en-US" altLang="zh-CN" sz="1600" dirty="0"/>
          </a:p>
          <a:p>
            <a:pPr marL="0" indent="0">
              <a:buNone/>
            </a:pPr>
            <a:endParaRPr lang="en-US" altLang="zh-CN" sz="1600" dirty="0"/>
          </a:p>
          <a:p>
            <a:pPr marL="0" indent="0">
              <a:buNone/>
            </a:pPr>
            <a:endParaRPr lang="en-US" altLang="zh-CN" sz="1600" dirty="0"/>
          </a:p>
          <a:p>
            <a:pPr marL="0" indent="0">
              <a:buNone/>
            </a:pPr>
            <a:endParaRPr lang="en-US" altLang="zh-CN" sz="1600" dirty="0"/>
          </a:p>
        </p:txBody>
      </p:sp>
    </p:spTree>
    <p:extLst>
      <p:ext uri="{BB962C8B-B14F-4D97-AF65-F5344CB8AC3E}">
        <p14:creationId xmlns:p14="http://schemas.microsoft.com/office/powerpoint/2010/main" val="3971355022"/>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4118</TotalTime>
  <Words>2053</Words>
  <Application>Microsoft Office PowerPoint</Application>
  <PresentationFormat>Widescreen</PresentationFormat>
  <Paragraphs>170</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WPS</vt:lpstr>
      <vt:lpstr>Why Rising Inequality Has Not Led to Increased Redistribution?  Candidate Number: 62622 </vt:lpstr>
      <vt:lpstr>PowerPoint Presentation</vt:lpstr>
      <vt:lpstr>PowerPoint Presentation</vt:lpstr>
      <vt:lpstr>PowerPoint Presentation</vt:lpstr>
      <vt:lpstr>Why An Increase In Redistribution Did Not Happen?</vt:lpstr>
      <vt:lpstr>Why An Increase In Redistribution Did Not Happen?</vt:lpstr>
      <vt:lpstr>PowerPoint Presentation</vt:lpstr>
      <vt:lpstr>PowerPoint Presentation</vt:lpstr>
      <vt:lpstr>Why An Increase In Redistribution Did Not Happen?</vt:lpstr>
      <vt:lpstr>Why An Increase In Redistribution Did Not Happen?</vt:lpstr>
      <vt:lpstr>Why An Increase In Redistribution Did Not Happen?</vt:lpstr>
      <vt:lpstr>Why An Increase In Redistribution Did Not Happen?</vt:lpstr>
      <vt:lpstr>Why An Increase In Redistribution Did Not Happen?</vt:lpstr>
      <vt:lpstr>Why An Increase In Redistribution Did Not Happen?</vt:lpstr>
      <vt:lpstr>Why An Increase In Redistribution Did Not Happen?</vt:lpstr>
      <vt:lpstr>Why An Increase In Redistribution Did Not Happen?</vt:lpstr>
      <vt:lpstr>Summaries</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Absinthium</dc:creator>
  <cp:lastModifiedBy>Feng6,C (ug)</cp:lastModifiedBy>
  <cp:revision>75</cp:revision>
  <dcterms:created xsi:type="dcterms:W3CDTF">2023-08-09T12:44:00Z</dcterms:created>
  <dcterms:modified xsi:type="dcterms:W3CDTF">2025-12-05T09:04:28Z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0FFB374EF87741258E9EC42A4DEF22FC_13</vt:lpwstr>
  </property>
</Properties>
</file>